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cyifi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3657600" y="1828800"/>
            <a:ext cx="1371600" cy="137160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WTC-Docs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C8D2FF"/>
                </a:solidFill>
              </a:rPr>
              <a:t>一站式游戏项目文档管理解决方案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A0C8"/>
                </a:solidFill>
              </a:rPr>
              <a:t>WorldTourCasino 项目组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0574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/>
              <a:t>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952"/>
                </a:solidFill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31520" cy="73152"/>
          </a:xfrm>
          <a:prstGeom prst="rect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457200" y="1645920"/>
            <a:ext cx="3657600" cy="640080"/>
          </a:xfrm>
          <a:prstGeom prst="parallelogram">
            <a:avLst/>
          </a:prstGeom>
          <a:solidFill>
            <a:srgbClr val="FFFFFF"/>
          </a:solidFill>
          <a:ln>
            <a:solidFill>
              <a:srgbClr val="E6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323C64"/>
                </a:solidFill>
              </a:rPr>
              <a:t>01  痛点与挑战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4572000" y="1645920"/>
            <a:ext cx="3657600" cy="640080"/>
          </a:xfrm>
          <a:prstGeom prst="parallelogram">
            <a:avLst/>
          </a:prstGeom>
          <a:solidFill>
            <a:srgbClr val="FFFFFF"/>
          </a:solidFill>
          <a:ln>
            <a:solidFill>
              <a:srgbClr val="E6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323C64"/>
                </a:solidFill>
              </a:rPr>
              <a:t>02  解决方案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457200" y="2468880"/>
            <a:ext cx="3657600" cy="64008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FFFFFF"/>
                </a:solidFill>
              </a:rPr>
              <a:t>03  核心特性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4572000" y="2468880"/>
            <a:ext cx="3657600" cy="640080"/>
          </a:xfrm>
          <a:prstGeom prst="parallelogram">
            <a:avLst/>
          </a:prstGeom>
          <a:solidFill>
            <a:srgbClr val="FFFFFF"/>
          </a:solidFill>
          <a:ln>
            <a:solidFill>
              <a:srgbClr val="E6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323C64"/>
                </a:solidFill>
              </a:rPr>
              <a:t>04  技术架构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457200" y="3291840"/>
            <a:ext cx="3657600" cy="640080"/>
          </a:xfrm>
          <a:prstGeom prst="parallelogram">
            <a:avLst/>
          </a:prstGeom>
          <a:solidFill>
            <a:srgbClr val="FFFFFF"/>
          </a:solidFill>
          <a:ln>
            <a:solidFill>
              <a:srgbClr val="E6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323C64"/>
                </a:solidFill>
              </a:rPr>
              <a:t>05  自动化工作流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4572000" y="3291840"/>
            <a:ext cx="3657600" cy="640080"/>
          </a:xfrm>
          <a:prstGeom prst="parallelogram">
            <a:avLst/>
          </a:prstGeom>
          <a:solidFill>
            <a:srgbClr val="FFFFFF"/>
          </a:solidFill>
          <a:ln>
            <a:solidFill>
              <a:srgbClr val="E6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323C64"/>
                </a:solidFill>
              </a:rPr>
              <a:t>06  数据统计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457200" y="4114800"/>
            <a:ext cx="3657600" cy="640080"/>
          </a:xfrm>
          <a:prstGeom prst="parallelogram">
            <a:avLst/>
          </a:prstGeom>
          <a:solidFill>
            <a:srgbClr val="FFFFFF"/>
          </a:solidFill>
          <a:ln>
            <a:solidFill>
              <a:srgbClr val="E6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323C64"/>
                </a:solidFill>
              </a:rPr>
              <a:t>07  快速开始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4572000" y="4114800"/>
            <a:ext cx="3657600" cy="640080"/>
          </a:xfrm>
          <a:prstGeom prst="parallelogram">
            <a:avLst/>
          </a:prstGeom>
          <a:solidFill>
            <a:srgbClr val="FFFFFF"/>
          </a:solidFill>
          <a:ln>
            <a:solidFill>
              <a:srgbClr val="E6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323C64"/>
                </a:solidFill>
              </a:rPr>
              <a:t>08 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952"/>
                </a:solidFill>
              </a:rPr>
              <a:t>01  痛点与挑战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" cy="73152"/>
          </a:xfrm>
          <a:prstGeom prst="rect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457200" y="1554480"/>
            <a:ext cx="3840480" cy="1280160"/>
          </a:xfrm>
          <a:prstGeom prst="parallelogram">
            <a:avLst/>
          </a:prstGeom>
          <a:solidFill>
            <a:srgbClr val="FFF0F0"/>
          </a:solidFill>
          <a:ln>
            <a:solidFill>
              <a:srgbClr val="FF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963232"/>
                </a:solidFill>
              </a:rPr>
              <a:t>📁 文档分散</a:t>
            </a:r>
          </a:p>
          <a:p>
            <a:r>
              <a:rPr sz="1400">
                <a:solidFill>
                  <a:srgbClr val="963232"/>
                </a:solidFill>
              </a:rPr>
              <a:t>飞书、本地、聊天记录...</a:t>
            </a:r>
          </a:p>
          <a:p>
            <a:r>
              <a:rPr sz="1400">
                <a:solidFill>
                  <a:srgbClr val="963232"/>
                </a:solidFill>
              </a:rPr>
              <a:t>找文档像大海捞针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4572000" y="1554480"/>
            <a:ext cx="3840480" cy="1280160"/>
          </a:xfrm>
          <a:prstGeom prst="parallelogram">
            <a:avLst/>
          </a:prstGeom>
          <a:solidFill>
            <a:srgbClr val="FFF5E6"/>
          </a:solidFill>
          <a:ln>
            <a:solidFill>
              <a:srgbClr val="FF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966432"/>
                </a:solidFill>
              </a:rPr>
              <a:t>🔍 搜索困难</a:t>
            </a:r>
          </a:p>
          <a:p>
            <a:r>
              <a:rPr sz="1400">
                <a:solidFill>
                  <a:srgbClr val="966432"/>
                </a:solidFill>
              </a:rPr>
              <a:t>中文分词差、匹配不准</a:t>
            </a:r>
          </a:p>
          <a:p>
            <a:r>
              <a:rPr sz="1400">
                <a:solidFill>
                  <a:srgbClr val="966432"/>
                </a:solidFill>
              </a:rPr>
              <a:t>想找的内容找不到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457200" y="3017520"/>
            <a:ext cx="3840480" cy="1280160"/>
          </a:xfrm>
          <a:prstGeom prst="parallelogram">
            <a:avLst/>
          </a:prstGeom>
          <a:solidFill>
            <a:srgbClr val="FFFAE6"/>
          </a:solidFill>
          <a:ln>
            <a:solidFill>
              <a:srgbClr val="FF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967832"/>
                </a:solidFill>
              </a:rPr>
              <a:t>🖼️ 图片混乱</a:t>
            </a:r>
          </a:p>
          <a:p>
            <a:r>
              <a:rPr sz="1400">
                <a:solidFill>
                  <a:srgbClr val="967832"/>
                </a:solidFill>
              </a:rPr>
              <a:t>外部链接失效、重复存储</a:t>
            </a:r>
          </a:p>
          <a:p>
            <a:r>
              <a:rPr sz="1400">
                <a:solidFill>
                  <a:srgbClr val="967832"/>
                </a:solidFill>
              </a:rPr>
              <a:t>资源管理一团糟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4572000" y="3017520"/>
            <a:ext cx="3840480" cy="1280160"/>
          </a:xfrm>
          <a:prstGeom prst="parallelogram">
            <a:avLst/>
          </a:prstGeom>
          <a:solidFill>
            <a:srgbClr val="F0F0FF"/>
          </a:solidFill>
          <a:ln>
            <a:solidFill>
              <a:srgbClr val="B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505096"/>
                </a:solidFill>
              </a:rPr>
              <a:t>📜 历史追溯难</a:t>
            </a:r>
          </a:p>
          <a:p>
            <a:r>
              <a:rPr sz="1400">
                <a:solidFill>
                  <a:srgbClr val="505096"/>
                </a:solidFill>
              </a:rPr>
              <a:t>谁改了什么？什么时候改的？</a:t>
            </a:r>
          </a:p>
          <a:p>
            <a:r>
              <a:rPr sz="1400">
                <a:solidFill>
                  <a:srgbClr val="505096"/>
                </a:solidFill>
              </a:rPr>
              <a:t>无法追踪变更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952"/>
                </a:solidFill>
              </a:rPr>
              <a:t>02  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" cy="73152"/>
          </a:xfrm>
          <a:prstGeom prst="rect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457200" y="1463040"/>
            <a:ext cx="8229600" cy="109728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>
                <a:solidFill>
                  <a:srgbClr val="FFFFFF"/>
                </a:solidFill>
              </a:rPr>
              <a:t>WTC-Docs：基于 VitePress 的一站式文档管理系统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4320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35280">
                <a:tc>
                  <a:txBody>
                    <a:bodyPr wrap="square"/>
                    <a:lstStyle/>
                    <a:p>
                      <a:r>
                        <a:rPr sz="1400" b="1"/>
                        <a:t>痛点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解决方案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效果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200"/>
                        <a:t>文档分散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统一文档中心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一处管理，分类清晰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200"/>
                        <a:t>搜索困难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智能中文搜索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精准分词，模糊匹配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200"/>
                        <a:t>图片混乱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自动化图片处理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自动下载、去重、清理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200"/>
                        <a:t>历史追溯难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Git 版本控制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完整历史，可追溯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200"/>
                        <a:t>部署繁琐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一键自动部署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推送即发布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952"/>
                </a:solidFill>
              </a:rPr>
              <a:t>03  核心特性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" cy="73152"/>
          </a:xfrm>
          <a:prstGeom prst="rect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457200" y="1463040"/>
            <a:ext cx="3840480" cy="2011680"/>
          </a:xfrm>
          <a:prstGeom prst="parallelogram">
            <a:avLst/>
          </a:prstGeom>
          <a:solidFill>
            <a:srgbClr val="F0F5FF"/>
          </a:solidFill>
          <a:ln>
            <a:solidFill>
              <a:srgbClr val="C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323C64"/>
                </a:solidFill>
              </a:rPr>
              <a:t>🔍 智能中文搜索</a:t>
            </a:r>
          </a:p>
          <a:p/>
          <a:p>
            <a:r>
              <a:rPr sz="1400">
                <a:solidFill>
                  <a:srgbClr val="323C64"/>
                </a:solidFill>
              </a:rPr>
              <a:t>• Intl.Segmenter 原生分词</a:t>
            </a:r>
          </a:p>
          <a:p>
            <a:r>
              <a:rPr sz="1400">
                <a:solidFill>
                  <a:srgbClr val="323C64"/>
                </a:solidFill>
              </a:rPr>
              <a:t>• 标题权重 4 &gt; 正文 2</a:t>
            </a:r>
          </a:p>
          <a:p>
            <a:r>
              <a:rPr sz="1400">
                <a:solidFill>
                  <a:srgbClr val="323C64"/>
                </a:solidFill>
              </a:rPr>
              <a:t>• 20% 模糊度容错</a:t>
            </a:r>
          </a:p>
          <a:p>
            <a:r>
              <a:rPr sz="1400">
                <a:solidFill>
                  <a:srgbClr val="323C64"/>
                </a:solidFill>
              </a:rPr>
              <a:t>• 前缀匹配支持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4572000" y="1463040"/>
            <a:ext cx="3840480" cy="2011680"/>
          </a:xfrm>
          <a:prstGeom prst="parallelogram">
            <a:avLst/>
          </a:prstGeom>
          <a:solidFill>
            <a:srgbClr val="F0FFF5"/>
          </a:solidFill>
          <a:ln>
            <a:solidFill>
              <a:srgbClr val="C8F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32643C"/>
                </a:solidFill>
              </a:rPr>
              <a:t>📸 图片自动化</a:t>
            </a:r>
          </a:p>
          <a:p/>
          <a:p>
            <a:r>
              <a:rPr sz="1400">
                <a:solidFill>
                  <a:srgbClr val="32643C"/>
                </a:solidFill>
              </a:rPr>
              <a:t>• 外部 URL 自动下载</a:t>
            </a:r>
          </a:p>
          <a:p>
            <a:r>
              <a:rPr sz="1400">
                <a:solidFill>
                  <a:srgbClr val="32643C"/>
                </a:solidFill>
              </a:rPr>
              <a:t>• MD5 哈希去重</a:t>
            </a:r>
          </a:p>
          <a:p>
            <a:r>
              <a:rPr sz="1400">
                <a:solidFill>
                  <a:srgbClr val="32643C"/>
                </a:solidFill>
              </a:rPr>
              <a:t>• 未引用图片清理</a:t>
            </a:r>
          </a:p>
          <a:p>
            <a:r>
              <a:rPr sz="1400">
                <a:solidFill>
                  <a:srgbClr val="32643C"/>
                </a:solidFill>
              </a:rPr>
              <a:t>• Base64 内嵌提取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457200" y="3657600"/>
            <a:ext cx="3840480" cy="2011680"/>
          </a:xfrm>
          <a:prstGeom prst="parallelogram">
            <a:avLst/>
          </a:prstGeom>
          <a:solidFill>
            <a:srgbClr val="FFF5F0"/>
          </a:solidFill>
          <a:ln>
            <a:solidFill>
              <a:srgbClr val="FF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643C32"/>
                </a:solidFill>
              </a:rPr>
              <a:t>📊 数据统计</a:t>
            </a:r>
          </a:p>
          <a:p/>
          <a:p>
            <a:r>
              <a:rPr sz="1400">
                <a:solidFill>
                  <a:srgbClr val="643C32"/>
                </a:solidFill>
              </a:rPr>
              <a:t>• 文档总数统计</a:t>
            </a:r>
          </a:p>
          <a:p>
            <a:r>
              <a:rPr sz="1400">
                <a:solidFill>
                  <a:srgbClr val="643C32"/>
                </a:solidFill>
              </a:rPr>
              <a:t>• 贡献者排行榜</a:t>
            </a:r>
          </a:p>
          <a:p>
            <a:r>
              <a:rPr sz="1400">
                <a:solidFill>
                  <a:srgbClr val="643C32"/>
                </a:solidFill>
              </a:rPr>
              <a:t>• 最近更新时间线</a:t>
            </a:r>
          </a:p>
          <a:p>
            <a:r>
              <a:rPr sz="1400">
                <a:solidFill>
                  <a:srgbClr val="643C32"/>
                </a:solidFill>
              </a:rPr>
              <a:t>• 分类分布图表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4572000" y="3657600"/>
            <a:ext cx="3840480" cy="2011680"/>
          </a:xfrm>
          <a:prstGeom prst="parallelogram">
            <a:avLst/>
          </a:prstGeom>
          <a:solidFill>
            <a:srgbClr val="FAF0FF"/>
          </a:solidFill>
          <a:ln>
            <a:solidFill>
              <a:srgbClr val="E6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503264"/>
                </a:solidFill>
              </a:rPr>
              <a:t>🚀 自动化部署</a:t>
            </a:r>
          </a:p>
          <a:p/>
          <a:p>
            <a:r>
              <a:rPr sz="1400">
                <a:solidFill>
                  <a:srgbClr val="503264"/>
                </a:solidFill>
              </a:rPr>
              <a:t>• Git 推送触发构建</a:t>
            </a:r>
          </a:p>
          <a:p>
            <a:r>
              <a:rPr sz="1400">
                <a:solidFill>
                  <a:srgbClr val="503264"/>
                </a:solidFill>
              </a:rPr>
              <a:t>• GitHub Actions CI/CD</a:t>
            </a:r>
          </a:p>
          <a:p>
            <a:r>
              <a:rPr sz="1400">
                <a:solidFill>
                  <a:srgbClr val="503264"/>
                </a:solidFill>
              </a:rPr>
              <a:t>• 零配置发布</a:t>
            </a:r>
          </a:p>
          <a:p>
            <a:r>
              <a:rPr sz="1400">
                <a:solidFill>
                  <a:srgbClr val="503264"/>
                </a:solidFill>
              </a:rPr>
              <a:t>• 即时生效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952"/>
                </a:solidFill>
              </a:rPr>
              <a:t>04  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" cy="73152"/>
          </a:xfrm>
          <a:prstGeom prst="rect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200" b="1"/>
                        <a:t>组件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技术选型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00"/>
                        <a:t>前端框架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VitePress 1.6.4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00"/>
                        <a:t>图表支持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Mermaid 11.12.1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00"/>
                        <a:t>构建工具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Vite + Rollup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00"/>
                        <a:t>脚本语言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Node.js + 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00"/>
                        <a:t>部署平��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GitHub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23C64"/>
                </a:solidFill>
              </a:rPr>
              <a:t>脚本分层架构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4572000" y="1828800"/>
            <a:ext cx="4114800" cy="54864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第一层：NPM 入口脚本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4572000" y="2468880"/>
            <a:ext cx="4114800" cy="548640"/>
          </a:xfrm>
          <a:prstGeom prst="parallelogram">
            <a:avLst/>
          </a:prstGeom>
          <a:solidFill>
            <a:srgbClr val="828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第二层：核心处理器 (lib/)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4572000" y="3108960"/>
            <a:ext cx="4114800" cy="548640"/>
          </a:xfrm>
          <a:prstGeom prst="parallelogram">
            <a:avLst/>
          </a:prstGeom>
          <a:solidFill>
            <a:srgbClr val="A0A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第三层：辅助工具 (utils/)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4572000" y="3749039"/>
            <a:ext cx="4114800" cy="548640"/>
          </a:xfrm>
          <a:prstGeom prst="parallelogram">
            <a:avLst/>
          </a:prstGeom>
          <a:solidFill>
            <a:srgbClr val="BEC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505078"/>
                </a:solidFill>
              </a:rPr>
              <a:t>第四层：手动工具 (tools/)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46CFF"/>
                </a:solidFill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71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828AFF"/>
                </a:solidFill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A0A8FF"/>
                </a:solidFill>
              </a:rPr>
              <a:t>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952"/>
                </a:solidFill>
              </a:rPr>
              <a:t>05  自动化工作流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" cy="73152"/>
          </a:xfrm>
          <a:prstGeom prst="rect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457200" y="1645920"/>
            <a:ext cx="1188720" cy="64008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FFFFFF"/>
                </a:solidFill>
              </a:rPr>
              <a:t>修复文件名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46CFF"/>
                </a:solidFill>
              </a:rPr>
              <a:t>→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2011680" y="1645920"/>
            <a:ext cx="1188720" cy="64008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FFFFFF"/>
                </a:solidFill>
              </a:rPr>
              <a:t>处理图片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46CFF"/>
                </a:solidFill>
              </a:rPr>
              <a:t>→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3566160" y="1645920"/>
            <a:ext cx="1188720" cy="64008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FFFFFF"/>
                </a:solidFill>
              </a:rPr>
              <a:t>处理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46CFF"/>
                </a:solidFill>
              </a:rPr>
              <a:t>→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5120640" y="1645920"/>
            <a:ext cx="1188720" cy="64008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FFFFFF"/>
                </a:solidFill>
              </a:rPr>
              <a:t>转换链接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46CFF"/>
                </a:solidFill>
              </a:rPr>
              <a:t>→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6675120" y="1645920"/>
            <a:ext cx="1188720" cy="64008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FFFFFF"/>
                </a:solidFill>
              </a:rPr>
              <a:t>生成索引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46CFF"/>
                </a:solidFill>
              </a:rPr>
              <a:t>→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8229600" y="1645920"/>
            <a:ext cx="640080" cy="640080"/>
          </a:xfrm>
          <a:prstGeom prst="parallelogram">
            <a:avLst/>
          </a:prstGeom>
          <a:solidFill>
            <a:srgbClr val="32C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>
                <a:solidFill>
                  <a:srgbClr val="FFFFFF"/>
                </a:solidFill>
              </a:rPr>
              <a:t>✓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25603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6571">
                <a:tc>
                  <a:txBody>
                    <a:bodyPr wrap="square"/>
                    <a:lstStyle/>
                    <a:p>
                      <a:r>
                        <a:rPr sz="1100" b="1"/>
                        <a:t>阶段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脚本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处理内容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fix-problematic-filenames.js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移除非法字符、处理长文件名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image-processor.js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下载外部图片、去重、清理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pdf-processor.js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收集 PDF 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link-processor.js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相对路径转绝对路径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generate-directory-index.js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目录自动索引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wrap="square"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vitepress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最终构建输出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952"/>
                </a:solidFill>
              </a:rPr>
              <a:t>06  数据统计与可视化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" cy="73152"/>
          </a:xfrm>
          <a:prstGeom prst="rect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457200" y="1463040"/>
            <a:ext cx="2560320" cy="164592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>
                <a:solidFill>
                  <a:srgbClr val="FFFFFF"/>
                </a:solidFill>
              </a:rPr>
              <a:t>📄 156</a:t>
            </a:r>
          </a:p>
          <a:p>
            <a:r>
              <a:rPr sz="2400">
                <a:solidFill>
                  <a:srgbClr val="FFFFFF"/>
                </a:solidFill>
              </a:rPr>
              <a:t>文档总数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3200400" y="1463040"/>
            <a:ext cx="2560320" cy="1645920"/>
          </a:xfrm>
          <a:prstGeom prst="parallelogram">
            <a:avLst/>
          </a:prstGeom>
          <a:solidFill>
            <a:srgbClr val="32C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>
                <a:solidFill>
                  <a:srgbClr val="FFFFFF"/>
                </a:solidFill>
              </a:rPr>
              <a:t>👥 5</a:t>
            </a:r>
          </a:p>
          <a:p>
            <a:r>
              <a:rPr sz="2400">
                <a:solidFill>
                  <a:srgbClr val="FFFFFF"/>
                </a:solidFill>
              </a:rPr>
              <a:t>贡献者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5943600" y="1463040"/>
            <a:ext cx="2560320" cy="1645920"/>
          </a:xfrm>
          <a:prstGeom prst="parallelogram">
            <a:avLst/>
          </a:prstGeom>
          <a:solidFill>
            <a:srgbClr val="FF96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>
                <a:solidFill>
                  <a:srgbClr val="FFFFFF"/>
                </a:solidFill>
              </a:rPr>
              <a:t>🖼️ 444</a:t>
            </a:r>
          </a:p>
          <a:p>
            <a:r>
              <a:rPr sz="2400">
                <a:solidFill>
                  <a:srgbClr val="FFFFFF"/>
                </a:solidFill>
              </a:rPr>
              <a:t>图片资源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23C64"/>
                </a:solidFill>
              </a:rPr>
              <a:t>可视化组件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49039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200" b="1"/>
                        <a:t>组件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功能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位置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/>
                        <a:t>Dashboard.vue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最近更新时间线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首页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/>
                        <a:t>StatsPage.vue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完整统计页面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/stats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/>
                        <a:t>AnimatedNumber.vue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数字动画效果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统计卡片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952"/>
                </a:solidFill>
              </a:rPr>
              <a:t>07  快速开始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" cy="73152"/>
          </a:xfrm>
          <a:prstGeom prst="rect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457200" y="1463040"/>
            <a:ext cx="3840480" cy="2286000"/>
          </a:xfrm>
          <a:prstGeom prst="parallelogram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C8DCC8"/>
                </a:solidFill>
              </a:rPr>
              <a:t># 安装步骤</a:t>
            </a:r>
          </a:p>
          <a:p>
            <a:r>
              <a:rPr sz="1200">
                <a:solidFill>
                  <a:srgbClr val="C8DCC8"/>
                </a:solidFill>
              </a:rPr>
              <a:t>cd docs</a:t>
            </a:r>
          </a:p>
          <a:p>
            <a:r>
              <a:rPr sz="1200">
                <a:solidFill>
                  <a:srgbClr val="C8DCC8"/>
                </a:solidFill>
              </a:rPr>
              <a:t>npm install</a:t>
            </a:r>
          </a:p>
          <a:p>
            <a:r>
              <a:rPr sz="1200">
                <a:solidFill>
                  <a:srgbClr val="C8DCC8"/>
                </a:solidFill>
              </a:rPr>
              <a:t>npm run dev</a:t>
            </a:r>
          </a:p>
          <a:p/>
          <a:p>
            <a:r>
              <a:rPr sz="1200">
                <a:solidFill>
                  <a:srgbClr val="C8DCC8"/>
                </a:solidFill>
              </a:rPr>
              <a:t># 访问</a:t>
            </a:r>
          </a:p>
          <a:p>
            <a:r>
              <a:rPr sz="1200">
                <a:solidFill>
                  <a:srgbClr val="C8DCC8"/>
                </a:solidFill>
              </a:rPr>
              <a:t>http://localhost:5173/WTC-Docs/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23C64"/>
                </a:solidFill>
              </a:rPr>
              <a:t>常用命令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8288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100" b="1"/>
                        <a:t>命令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用途</a:t>
                      </a:r>
                    </a:p>
                  </a:txBody>
                  <a:tcPr>
                    <a:solidFill>
                      <a:srgbClr val="646C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/>
                        <a:t>npm run 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启动开发服务器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/>
                        <a:t>npm run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本地构建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/>
                        <a:t>npm run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构建并部署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/>
                        <a:t>npm run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查看 Git 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/>
                        <a:t>npm run convert-docx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DOCX 转 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rallelogram 6"/>
          <p:cNvSpPr/>
          <p:nvPr/>
        </p:nvSpPr>
        <p:spPr>
          <a:xfrm>
            <a:off x="457200" y="3931920"/>
            <a:ext cx="8229600" cy="731520"/>
          </a:xfrm>
          <a:prstGeom prst="parallelogram">
            <a:avLst/>
          </a:prstGeom>
          <a:solidFill>
            <a:srgbClr val="F0F5FF"/>
          </a:solidFill>
          <a:ln>
            <a:solidFill>
              <a:srgbClr val="C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646CFF"/>
                </a:solidFill>
              </a:rPr>
              <a:t>🌐 线上地址：https://zhaoheng666.github.io/WTC-Docs/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cyifi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08  技术亮点总结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731520" cy="73152"/>
          </a:xfrm>
          <a:prstGeom prst="rect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57200" y="1463040"/>
            <a:ext cx="2560320" cy="1188720"/>
          </a:xfrm>
          <a:prstGeom prst="parallelogram">
            <a:avLst/>
          </a:prstGeom>
          <a:solidFill>
            <a:srgbClr val="3C5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🔍 中文搜索</a:t>
            </a:r>
          </a:p>
          <a:p>
            <a:r>
              <a:rPr sz="1400">
                <a:solidFill>
                  <a:srgbClr val="FFFFFF"/>
                </a:solidFill>
              </a:rPr>
              <a:t>精准分词 + 模糊匹配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3200400" y="1463040"/>
            <a:ext cx="2560320" cy="1188720"/>
          </a:xfrm>
          <a:prstGeom prst="parallelogram">
            <a:avLst/>
          </a:prstGeom>
          <a:solidFill>
            <a:srgbClr val="3C5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📸 图片管理</a:t>
            </a:r>
          </a:p>
          <a:p>
            <a:r>
              <a:rPr sz="1400">
                <a:solidFill>
                  <a:srgbClr val="FFFFFF"/>
                </a:solidFill>
              </a:rPr>
              <a:t>MD5 哈希 + 自动清理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5943600" y="1463040"/>
            <a:ext cx="2560320" cy="1188720"/>
          </a:xfrm>
          <a:prstGeom prst="parallelogram">
            <a:avLst/>
          </a:prstGeom>
          <a:solidFill>
            <a:srgbClr val="3C5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📋 侧边栏</a:t>
            </a:r>
          </a:p>
          <a:p>
            <a:r>
              <a:rPr sz="1400">
                <a:solidFill>
                  <a:srgbClr val="FFFFFF"/>
                </a:solidFill>
              </a:rPr>
              <a:t>递归扫描 + 灵活配置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457200" y="2834640"/>
            <a:ext cx="2560320" cy="1188720"/>
          </a:xfrm>
          <a:prstGeom prst="parallelogram">
            <a:avLst/>
          </a:prstGeom>
          <a:solidFill>
            <a:srgbClr val="3C5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🚀 部署</a:t>
            </a:r>
          </a:p>
          <a:p>
            <a:r>
              <a:rPr sz="1400">
                <a:solidFill>
                  <a:srgbClr val="FFFFFF"/>
                </a:solidFill>
              </a:rPr>
              <a:t>GitHub Actions 自动化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3200400" y="2834640"/>
            <a:ext cx="2560320" cy="1188720"/>
          </a:xfrm>
          <a:prstGeom prst="parallelogram">
            <a:avLst/>
          </a:prstGeom>
          <a:solidFill>
            <a:srgbClr val="3C5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📊 统计</a:t>
            </a:r>
          </a:p>
          <a:p>
            <a:r>
              <a:rPr sz="1400">
                <a:solidFill>
                  <a:srgbClr val="FFFFFF"/>
                </a:solidFill>
              </a:rPr>
              <a:t>Git 记录 + 实时更新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5943600" y="2834640"/>
            <a:ext cx="2560320" cy="1188720"/>
          </a:xfrm>
          <a:prstGeom prst="parallelogram">
            <a:avLst/>
          </a:prstGeom>
          <a:solidFill>
            <a:srgbClr val="3C5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📝 文件名修复</a:t>
            </a:r>
          </a:p>
          <a:p>
            <a:r>
              <a:rPr sz="1400">
                <a:solidFill>
                  <a:srgbClr val="FFFFFF"/>
                </a:solidFill>
              </a:rPr>
              <a:t>正则检测 + 跨平台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cyifi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3657600" y="1645920"/>
            <a:ext cx="1371600" cy="1371600"/>
          </a:xfrm>
          <a:prstGeom prst="parallelogram">
            <a:avLst/>
          </a:prstGeom>
          <a:solidFill>
            <a:srgbClr val="646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77639" y="1874519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/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C8D2FF"/>
                </a:solidFill>
              </a:rPr>
              <a:t>WTC-Docs · 让文档管理更简单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A0C8"/>
                </a:solidFill>
              </a:rPr>
              <a:t>https://zhaoheng666.github.io/WTC-Docs/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