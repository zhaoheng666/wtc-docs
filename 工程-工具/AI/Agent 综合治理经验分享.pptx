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-731520"/>
            <a:ext cx="4937760" cy="4937760"/>
          </a:xfrm>
          <a:prstGeom prst="ellipse">
            <a:avLst/>
          </a:prstGeom>
          <a:solidFill>
            <a:srgbClr val="2DD4BF">
              <a:alpha val="11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3108960"/>
            <a:ext cx="3749040" cy="3749040"/>
          </a:xfrm>
          <a:prstGeom prst="ellipse">
            <a:avLst/>
          </a:prstGeom>
          <a:solidFill>
            <a:srgbClr val="FF6B5E">
              <a:alpha val="9000"/>
            </a:srgbClr>
          </a:solidFill>
          <a:ln w="12700">
            <a:solidFill>
              <a:srgbClr val="FF6B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21792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62179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AGENT 综合治理复盘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6446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一个明确的小任务，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为什么变成了长链路？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 DH 资源重组的真实失控，提炼可复用的执行治理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11312" y="1655064"/>
            <a:ext cx="384048" cy="192024"/>
          </a:xfrm>
          <a:prstGeom prst="line">
            <a:avLst/>
          </a:prstGeom>
          <a:noFill/>
          <a:ln w="15240">
            <a:solidFill>
              <a:srgbClr val="FF6B5E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710928" y="1664208"/>
            <a:ext cx="320040" cy="182880"/>
          </a:xfrm>
          <a:prstGeom prst="line">
            <a:avLst/>
          </a:prstGeom>
          <a:noFill/>
          <a:ln w="15240">
            <a:solidFill>
              <a:srgbClr val="FFB84D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754112" y="3054096"/>
            <a:ext cx="658368" cy="164592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222992" y="2889504"/>
            <a:ext cx="420624" cy="420624"/>
          </a:xfrm>
          <a:prstGeom prst="line">
            <a:avLst/>
          </a:prstGeom>
          <a:noFill/>
          <a:ln w="15240">
            <a:solidFill>
              <a:srgbClr val="60A5FA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882128" y="1847088"/>
            <a:ext cx="2999232" cy="1042416"/>
          </a:xfrm>
          <a:prstGeom prst="roundRect">
            <a:avLst>
              <a:gd name="adj" fmla="val 7018"/>
            </a:avLst>
          </a:prstGeom>
          <a:solidFill>
            <a:srgbClr val="192943"/>
          </a:solidFill>
          <a:ln w="17780">
            <a:solidFill>
              <a:srgbClr val="2DD4B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2029968"/>
            <a:ext cx="118872" cy="1188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83296" y="20574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业务目标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83296" y="239572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全局生成器  +  WS-04 已确认 bundles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812280" y="896112"/>
            <a:ext cx="1993392" cy="758952"/>
          </a:xfrm>
          <a:prstGeom prst="roundRect">
            <a:avLst>
              <a:gd name="adj" fmla="val 9639"/>
            </a:avLst>
          </a:prstGeom>
          <a:solidFill>
            <a:srgbClr val="142038"/>
          </a:solidFill>
          <a:ln w="8890">
            <a:solidFill>
              <a:srgbClr val="31435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078992"/>
            <a:ext cx="118872" cy="118872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11064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重复验证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13448" y="1335024"/>
            <a:ext cx="1591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同一证据被反复证明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902952" y="841248"/>
            <a:ext cx="1755648" cy="822960"/>
          </a:xfrm>
          <a:prstGeom prst="roundRect">
            <a:avLst>
              <a:gd name="adj" fmla="val 8889"/>
            </a:avLst>
          </a:prstGeom>
          <a:solidFill>
            <a:srgbClr val="142038"/>
          </a:solidFill>
          <a:ln w="8890">
            <a:solidFill>
              <a:srgbClr val="31435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85832" y="1024128"/>
            <a:ext cx="118872" cy="11887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10515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SubAgent 等待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0104120" y="128016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协调成本反超收益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65392" y="3218688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142038"/>
          </a:solidFill>
          <a:ln w="8890">
            <a:solidFill>
              <a:srgbClr val="31435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48272" y="3401568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42900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提交重开收口</a:t>
            </a:r>
            <a:endParaRPr lang="en-US" sz="1270" dirty="0"/>
          </a:p>
        </p:txBody>
      </p:sp>
      <p:sp>
        <p:nvSpPr>
          <p:cNvPr id="27" name="Text 25"/>
          <p:cNvSpPr/>
          <p:nvPr/>
        </p:nvSpPr>
        <p:spPr>
          <a:xfrm>
            <a:off x="6766560" y="3666744"/>
            <a:ext cx="1746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Git 变成第二次任务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857232" y="3310128"/>
            <a:ext cx="1883664" cy="822960"/>
          </a:xfrm>
          <a:prstGeom prst="roundRect">
            <a:avLst>
              <a:gd name="adj" fmla="val 8889"/>
            </a:avLst>
          </a:prstGeom>
          <a:solidFill>
            <a:srgbClr val="142038"/>
          </a:solidFill>
          <a:ln w="8890">
            <a:solidFill>
              <a:srgbClr val="31435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40112" y="3493008"/>
            <a:ext cx="118872" cy="1188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3520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上下文噪声</a:t>
            </a:r>
            <a:endParaRPr lang="en-US" sz="1270" dirty="0"/>
          </a:p>
        </p:txBody>
      </p:sp>
      <p:sp>
        <p:nvSpPr>
          <p:cNvPr id="31" name="Text 29"/>
          <p:cNvSpPr/>
          <p:nvPr/>
        </p:nvSpPr>
        <p:spPr>
          <a:xfrm>
            <a:off x="10058400" y="3758184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旧计划继续驱动新动作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3232" y="5138928"/>
            <a:ext cx="10835640" cy="850392"/>
          </a:xfrm>
          <a:prstGeom prst="roundRect">
            <a:avLst>
              <a:gd name="adj" fmla="val 8602"/>
            </a:avLst>
          </a:prstGeom>
          <a:solidFill>
            <a:srgbClr val="142038"/>
          </a:solidFill>
          <a:ln w="10160">
            <a:solidFill>
              <a:srgbClr val="3143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" y="5138928"/>
            <a:ext cx="73152" cy="850392"/>
          </a:xfrm>
          <a:prstGeom prst="rect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问题不是 Agent 做得少，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315968" y="5266944"/>
            <a:ext cx="6611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而是做了太多不产生新证据的动作。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58368" y="651052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WORLD TOUR CASINO · ENGINEERING PRACTICE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259568" y="6528816"/>
            <a:ext cx="54864" cy="5486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1501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7046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25912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81360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03680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9225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34770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/ INCIDENT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6751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现场｜业务没变复杂，执行链却不断变长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01400" y="3383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76656" y="1344168"/>
            <a:ext cx="10826496" cy="841248"/>
          </a:xfrm>
          <a:prstGeom prst="roundRect">
            <a:avLst>
              <a:gd name="adj" fmla="val 8696"/>
            </a:avLst>
          </a:prstGeom>
          <a:solidFill>
            <a:srgbClr val="192943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1790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原始目标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453896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沉淀全局生成器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45152" y="1453896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 WS-04 已确认 bundles 验证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006840" y="1581912"/>
            <a:ext cx="1956816" cy="310896"/>
          </a:xfrm>
          <a:prstGeom prst="roundRect">
            <a:avLst>
              <a:gd name="adj" fmla="val 23529"/>
            </a:avLst>
          </a:prstGeom>
          <a:solidFill>
            <a:srgbClr val="0A1020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79992" y="158191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WS-05 / 06 未启动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78992" y="3035808"/>
            <a:ext cx="9921240" cy="0"/>
          </a:xfrm>
          <a:prstGeom prst="line">
            <a:avLst/>
          </a:prstGeom>
          <a:noFill/>
          <a:ln w="27940">
            <a:solidFill>
              <a:srgbClr val="31435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188720" y="2724912"/>
            <a:ext cx="512064" cy="51206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" y="3401568"/>
            <a:ext cx="1554480" cy="896112"/>
          </a:xfrm>
          <a:prstGeom prst="roundRect">
            <a:avLst>
              <a:gd name="adj" fmla="val 8163"/>
            </a:avLst>
          </a:prstGeom>
          <a:solidFill>
            <a:srgbClr val="142038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2958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路径清理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77240" y="385876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必要动作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054096" y="2724912"/>
            <a:ext cx="512064" cy="512064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4096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32888" y="3401568"/>
            <a:ext cx="1554480" cy="896112"/>
          </a:xfrm>
          <a:prstGeom prst="roundRect">
            <a:avLst>
              <a:gd name="adj" fmla="val 8163"/>
            </a:avLst>
          </a:prstGeom>
          <a:solidFill>
            <a:srgbClr val="142038"/>
          </a:solidFill>
          <a:ln w="10160">
            <a:solidFill>
              <a:srgbClr val="FF6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42616" y="352958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表达反复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2642616" y="385876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6B5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语义返工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919472" y="2724912"/>
            <a:ext cx="512064" cy="512064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98264" y="3401568"/>
            <a:ext cx="1554480" cy="896112"/>
          </a:xfrm>
          <a:prstGeom prst="roundRect">
            <a:avLst>
              <a:gd name="adj" fmla="val 8163"/>
            </a:avLst>
          </a:prstGeom>
          <a:solidFill>
            <a:srgbClr val="142038"/>
          </a:solidFill>
          <a:ln w="10160">
            <a:solidFill>
              <a:srgbClr val="FF6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352958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扩大扫描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4507992" y="385876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6B5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范围扩张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784848" y="2724912"/>
            <a:ext cx="512064" cy="512064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401568"/>
            <a:ext cx="1554480" cy="896112"/>
          </a:xfrm>
          <a:prstGeom prst="roundRect">
            <a:avLst>
              <a:gd name="adj" fmla="val 8163"/>
            </a:avLst>
          </a:prstGeom>
          <a:solidFill>
            <a:srgbClr val="142038"/>
          </a:solidFill>
          <a:ln w="10160">
            <a:solidFill>
              <a:srgbClr val="FFB8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352958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无关文件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6373368" y="385876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B8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主次偏移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8650224" y="2724912"/>
            <a:ext cx="512064" cy="51206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50224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29016" y="3401568"/>
            <a:ext cx="1554480" cy="896112"/>
          </a:xfrm>
          <a:prstGeom prst="roundRect">
            <a:avLst>
              <a:gd name="adj" fmla="val 8163"/>
            </a:avLst>
          </a:prstGeom>
          <a:solidFill>
            <a:srgbClr val="142038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352958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提交复检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8238744" y="385876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A78B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重复收口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10515600" y="2724912"/>
            <a:ext cx="512064" cy="51206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0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994392" y="3401568"/>
            <a:ext cx="1554480" cy="896112"/>
          </a:xfrm>
          <a:prstGeom prst="roundRect">
            <a:avLst>
              <a:gd name="adj" fmla="val 8163"/>
            </a:avLst>
          </a:prstGeom>
          <a:solidFill>
            <a:srgbClr val="142038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04120" y="352958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归档长链</a:t>
            </a:r>
            <a:endParaRPr lang="en-US" sz="1420" dirty="0"/>
          </a:p>
        </p:txBody>
      </p:sp>
      <p:sp>
        <p:nvSpPr>
          <p:cNvPr id="41" name="Text 39"/>
          <p:cNvSpPr/>
          <p:nvPr/>
        </p:nvSpPr>
        <p:spPr>
          <a:xfrm>
            <a:off x="10104120" y="385876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0A5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流程惯性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676656" y="4809744"/>
            <a:ext cx="5193792" cy="1051560"/>
          </a:xfrm>
          <a:prstGeom prst="roundRect">
            <a:avLst>
              <a:gd name="adj" fmla="val 6957"/>
            </a:avLst>
          </a:prstGeom>
          <a:solidFill>
            <a:srgbClr val="142038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9536" y="4992624"/>
            <a:ext cx="118872" cy="1188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5020056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真正需要完成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77824" y="5340096"/>
            <a:ext cx="4791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全局生成器  ·  WS-04 代表性验证  ·  路径表达收敛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6236208" y="4809744"/>
            <a:ext cx="5266944" cy="1051560"/>
          </a:xfrm>
          <a:prstGeom prst="roundRect">
            <a:avLst>
              <a:gd name="adj" fmla="val 6957"/>
            </a:avLst>
          </a:prstGeom>
          <a:solidFill>
            <a:srgbClr val="142038"/>
          </a:solidFill>
          <a:ln w="12700">
            <a:solidFill>
              <a:srgbClr val="FF6B5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19088" y="4992624"/>
            <a:ext cx="118872" cy="118872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5020056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执行系统额外制造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37376" y="5340096"/>
            <a:ext cx="48646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重复检查  ·  过早返回与高频轮询  ·  再次确认  ·  无关清理</a:t>
            </a:r>
            <a:endParaRPr lang="en-US" sz="1220" dirty="0"/>
          </a:p>
        </p:txBody>
      </p:sp>
      <p:sp>
        <p:nvSpPr>
          <p:cNvPr id="50" name="Text 48"/>
          <p:cNvSpPr/>
          <p:nvPr/>
        </p:nvSpPr>
        <p:spPr>
          <a:xfrm>
            <a:off x="658368" y="651052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 GOVERNANCE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025956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415016" y="6528816"/>
            <a:ext cx="54864" cy="5486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7046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725912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881360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03680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9225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4770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 / DIAGNOSIS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6751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诊断｜上下文是放大器，不是根因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1338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先处理阶段与协调，再处理信息负担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01400" y="3383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4944" y="1609344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0934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1399032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142038"/>
          </a:solidFill>
          <a:ln w="15240">
            <a:solidFill>
              <a:srgbClr val="FF6B5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0" y="1581912"/>
            <a:ext cx="118872" cy="118872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160934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任务编排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47088" y="1993392"/>
            <a:ext cx="2139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阶段过细 · 重复验证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提交重开收口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4480560" y="1399032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142038"/>
          </a:solidFill>
          <a:ln w="15240">
            <a:solidFill>
              <a:srgbClr val="FFB84D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81912"/>
            <a:ext cx="118872" cy="11887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0934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SubAgent 调度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81728" y="1993392"/>
            <a:ext cx="2139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机械委派 · 等待过多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复验不复用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2916936" y="2587752"/>
            <a:ext cx="0" cy="164592"/>
          </a:xfrm>
          <a:prstGeom prst="line">
            <a:avLst/>
          </a:prstGeom>
          <a:noFill/>
          <a:ln w="16510">
            <a:solidFill>
              <a:srgbClr val="FF6B5E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751576" y="2587752"/>
            <a:ext cx="0" cy="164592"/>
          </a:xfrm>
          <a:prstGeom prst="line">
            <a:avLst/>
          </a:prstGeom>
          <a:noFill/>
          <a:ln w="16510">
            <a:solidFill>
              <a:srgbClr val="FFB84D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916936" y="2752344"/>
            <a:ext cx="2834640" cy="0"/>
          </a:xfrm>
          <a:prstGeom prst="line">
            <a:avLst/>
          </a:prstGeom>
          <a:noFill/>
          <a:ln w="16510">
            <a:solidFill>
              <a:srgbClr val="FFB84D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334256" y="2752344"/>
            <a:ext cx="0" cy="219456"/>
          </a:xfrm>
          <a:prstGeom prst="line">
            <a:avLst/>
          </a:prstGeom>
          <a:noFill/>
          <a:ln w="19050">
            <a:solidFill>
              <a:srgbClr val="FFB84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944" y="31363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136392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执行放大器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59152" y="2962656"/>
            <a:ext cx="3950208" cy="960120"/>
          </a:xfrm>
          <a:prstGeom prst="roundRect">
            <a:avLst>
              <a:gd name="adj" fmla="val 7619"/>
            </a:avLst>
          </a:prstGeom>
          <a:solidFill>
            <a:srgbClr val="142038"/>
          </a:solidFill>
          <a:ln w="12700">
            <a:solidFill>
              <a:srgbClr val="FFB84D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42032" y="3145536"/>
            <a:ext cx="118872" cy="11887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工具与输出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560320" y="35021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扫描扩围 · 巨型输出 · 过早返回 · 高频轮询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4315968" y="3977640"/>
            <a:ext cx="0" cy="384048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4944" y="456285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4562856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二次放大器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98064" y="4352544"/>
            <a:ext cx="3072384" cy="960120"/>
          </a:xfrm>
          <a:prstGeom prst="roundRect">
            <a:avLst>
              <a:gd name="adj" fmla="val 7619"/>
            </a:avLst>
          </a:prstGeom>
          <a:solidFill>
            <a:srgbClr val="1420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80944" y="4535424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456285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上下文膨胀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2999232" y="489204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旧计划惯性 · 状态噪声 · 目标偏移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7424928" y="1417320"/>
            <a:ext cx="4078224" cy="4297680"/>
          </a:xfrm>
          <a:prstGeom prst="roundRect">
            <a:avLst>
              <a:gd name="adj" fmla="val 1794"/>
            </a:avLst>
          </a:prstGeom>
          <a:solidFill>
            <a:srgbClr val="142038"/>
          </a:solidFill>
          <a:ln w="10160">
            <a:solidFill>
              <a:srgbClr val="3143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35824" y="175564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5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错误的诊断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35824" y="2130552"/>
            <a:ext cx="3401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“只要压缩上下文，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任务就会自然变快。”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7735824" y="3136392"/>
            <a:ext cx="3310128" cy="0"/>
          </a:xfrm>
          <a:prstGeom prst="line">
            <a:avLst/>
          </a:prstGeom>
          <a:noFill/>
          <a:ln w="12700">
            <a:solidFill>
              <a:srgbClr val="31435E"/>
            </a:solidFill>
            <a:prstDash val="solid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7735824" y="344728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更完整的判断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35824" y="382219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先消除重复阶段与低收益委派，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再让上下文只保留仍有效的事实。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735824" y="5047488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08976" y="504748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根因优先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42832" y="5047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上下文专项治理是支撑层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58368" y="651052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 GOVERNANCE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25956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1501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70464" y="6528816"/>
            <a:ext cx="54864" cy="5486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25912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81360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3680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9225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34770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/ ORCHESTRATION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6751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治理一｜把交付链压缩到「最少但充分」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01400" y="3383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5321808" cy="4553712"/>
          </a:xfrm>
          <a:prstGeom prst="roundRect">
            <a:avLst>
              <a:gd name="adj" fmla="val 1606"/>
            </a:avLst>
          </a:prstGeom>
          <a:solidFill>
            <a:srgbClr val="0E1729"/>
          </a:solidFill>
          <a:ln w="11430">
            <a:solidFill>
              <a:srgbClr val="FF6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627632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6276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47088" y="16276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每个动作都被误当成独立阶段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4773168" cy="4572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7620">
            <a:solidFill>
              <a:srgbClr val="3143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2249424"/>
            <a:ext cx="164592" cy="164592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2494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18488" y="220370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07792" y="22128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6758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完成局部修改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914400" y="2670048"/>
            <a:ext cx="4773168" cy="4572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7620">
            <a:solidFill>
              <a:srgbClr val="3143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816352"/>
            <a:ext cx="164592" cy="164592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816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18488" y="277063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测试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07792" y="27797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6758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第一次证明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14400" y="3236976"/>
            <a:ext cx="4773168" cy="4572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7620">
            <a:solidFill>
              <a:srgbClr val="3143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" y="3383280"/>
            <a:ext cx="164592" cy="164592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383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18488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07792" y="33467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6758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再次装载上下文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14400" y="3803904"/>
            <a:ext cx="4773168" cy="4572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7620">
            <a:solidFill>
              <a:srgbClr val="3143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" y="3950208"/>
            <a:ext cx="164592" cy="164592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39502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18488" y="39044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补查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07792" y="3913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6758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范围自然扩大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14400" y="4370832"/>
            <a:ext cx="4773168" cy="4572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7620">
            <a:solidFill>
              <a:srgbClr val="3143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0704" y="4517136"/>
            <a:ext cx="164592" cy="164592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704" y="45171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18488" y="44714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提交复审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907792" y="44805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6758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重新启动收口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914400" y="4937760"/>
            <a:ext cx="4773168" cy="4572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7620">
            <a:solidFill>
              <a:srgbClr val="3143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0704" y="5084064"/>
            <a:ext cx="164592" cy="164592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0704" y="50840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18488" y="503834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推送核查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907792" y="50474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6758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继续制造等待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6236208" y="1371600"/>
            <a:ext cx="5294376" cy="4553712"/>
          </a:xfrm>
          <a:prstGeom prst="roundRect">
            <a:avLst>
              <a:gd name="adj" fmla="val 1606"/>
            </a:avLst>
          </a:prstGeom>
          <a:solidFill>
            <a:srgbClr val="142038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1627632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16276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治理后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79792" y="16276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阶段由真实依赖产生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92240" y="2139696"/>
            <a:ext cx="4754880" cy="630936"/>
          </a:xfrm>
          <a:prstGeom prst="roundRect">
            <a:avLst>
              <a:gd name="adj" fmla="val 11594"/>
            </a:avLst>
          </a:prstGeom>
          <a:solidFill>
            <a:srgbClr val="192943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38544" y="2286000"/>
            <a:ext cx="338328" cy="3383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8544" y="22860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96328" y="2258568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实施并稳定改动面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196328" y="2505456"/>
            <a:ext cx="3858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先让被验证对象停止变化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869680" y="2770632"/>
            <a:ext cx="0" cy="164592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492240" y="2962656"/>
            <a:ext cx="4754880" cy="630936"/>
          </a:xfrm>
          <a:prstGeom prst="roundRect">
            <a:avLst>
              <a:gd name="adj" fmla="val 11594"/>
            </a:avLst>
          </a:prstGeom>
          <a:solidFill>
            <a:srgbClr val="192943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38544" y="3108960"/>
            <a:ext cx="338328" cy="3383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8544" y="31089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96328" y="3081528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最小充分验证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196328" y="3328416"/>
            <a:ext cx="3858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局部测试，或权威要求的独立复核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869680" y="3593592"/>
            <a:ext cx="0" cy="164592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492240" y="3785616"/>
            <a:ext cx="4754880" cy="630936"/>
          </a:xfrm>
          <a:prstGeom prst="roundRect">
            <a:avLst>
              <a:gd name="adj" fmla="val 11594"/>
            </a:avLst>
          </a:prstGeom>
          <a:solidFill>
            <a:srgbClr val="192943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38544" y="3931920"/>
            <a:ext cx="338328" cy="3383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38544" y="39319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96328" y="3904488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一次任务收口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196328" y="4151376"/>
            <a:ext cx="3858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集中处理测试、审查、验收与 blocker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869680" y="4416552"/>
            <a:ext cx="0" cy="164592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492240" y="4608576"/>
            <a:ext cx="4754880" cy="630936"/>
          </a:xfrm>
          <a:prstGeom prst="roundRect">
            <a:avLst>
              <a:gd name="adj" fmla="val 11594"/>
            </a:avLst>
          </a:prstGeom>
          <a:solidFill>
            <a:srgbClr val="192943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638544" y="4754880"/>
            <a:ext cx="338328" cy="3383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38544" y="47548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96328" y="4727448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确定性 Git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196328" y="4974336"/>
            <a:ext cx="3858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只消费仍有效的收口结论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075688" y="6108192"/>
            <a:ext cx="8046720" cy="384048"/>
          </a:xfrm>
          <a:prstGeom prst="roundRect">
            <a:avLst>
              <a:gd name="adj" fmla="val 19048"/>
            </a:avLst>
          </a:prstGeom>
          <a:solidFill>
            <a:srgbClr val="192943"/>
          </a:solidFill>
          <a:ln w="7620">
            <a:solidFill>
              <a:srgbClr val="3143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31720" y="6117336"/>
            <a:ext cx="7534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删掉重复证明，不降低验证标准。</a:t>
            </a:r>
            <a:endParaRPr lang="en-US" sz="1550" dirty="0"/>
          </a:p>
        </p:txBody>
      </p:sp>
      <p:sp>
        <p:nvSpPr>
          <p:cNvPr id="68" name="Text 66"/>
          <p:cNvSpPr/>
          <p:nvPr/>
        </p:nvSpPr>
        <p:spPr>
          <a:xfrm>
            <a:off x="658368" y="651052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 GOVERNANCE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025956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1501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57046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25912" y="6528816"/>
            <a:ext cx="54864" cy="5486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881360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3680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19225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34770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 / DELEGATION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6751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治理二｜SubAgent 的判断标准是净收益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1338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“可拆”只是信号，不是委派理由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01400" y="3383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76472" y="1417320"/>
            <a:ext cx="4626864" cy="777240"/>
          </a:xfrm>
          <a:prstGeom prst="roundRect">
            <a:avLst>
              <a:gd name="adj" fmla="val 9412"/>
            </a:avLst>
          </a:prstGeom>
          <a:solidFill>
            <a:srgbClr val="192943"/>
          </a:solidFill>
          <a:ln w="11430">
            <a:solidFill>
              <a:srgbClr val="F7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59352" y="1600200"/>
            <a:ext cx="118872" cy="118872"/>
          </a:xfrm>
          <a:prstGeom prst="ellipse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62763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是否命中受保护范围？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77640" y="1874520"/>
            <a:ext cx="4224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共享 Runtime / 资源身份 / 生成契约 / checker / 发布切换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2212848"/>
            <a:ext cx="0" cy="274320"/>
          </a:xfrm>
          <a:prstGeom prst="line">
            <a:avLst/>
          </a:prstGeom>
          <a:noFill/>
          <a:ln w="19050">
            <a:solidFill>
              <a:srgbClr val="FF6B5E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53512" y="2487168"/>
            <a:ext cx="2029968" cy="0"/>
          </a:xfrm>
          <a:prstGeom prst="line">
            <a:avLst/>
          </a:prstGeom>
          <a:noFill/>
          <a:ln w="19050">
            <a:solidFill>
              <a:srgbClr val="FF6B5E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953512" y="2487168"/>
            <a:ext cx="0" cy="347472"/>
          </a:xfrm>
          <a:prstGeom prst="line">
            <a:avLst/>
          </a:prstGeom>
          <a:noFill/>
          <a:ln w="19050">
            <a:solidFill>
              <a:srgbClr val="FF6B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96328" y="2212848"/>
            <a:ext cx="0" cy="27432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196328" y="2487168"/>
            <a:ext cx="2029968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226296" y="2487168"/>
            <a:ext cx="0" cy="347472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322576" y="2487168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24871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26880" y="2487168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24871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2852928"/>
            <a:ext cx="5230368" cy="2258568"/>
          </a:xfrm>
          <a:prstGeom prst="roundRect">
            <a:avLst>
              <a:gd name="adj" fmla="val 3239"/>
            </a:avLst>
          </a:prstGeom>
          <a:solidFill>
            <a:srgbClr val="142038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099816"/>
            <a:ext cx="2423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6B5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 名独立 verifier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87552" y="34930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未参与实施 · 边界明确 · verdict 可判定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9264" y="3913632"/>
            <a:ext cx="1810512" cy="868680"/>
          </a:xfrm>
          <a:prstGeom prst="roundRect">
            <a:avLst>
              <a:gd name="adj" fmla="val 8421"/>
            </a:avLst>
          </a:prstGeom>
          <a:solidFill>
            <a:srgbClr val="142038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2144" y="4096512"/>
            <a:ext cx="118872" cy="1188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412394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Accepted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70432" y="4443984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直接进入收口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35808" y="3913632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42038"/>
          </a:solidFill>
          <a:ln w="10160">
            <a:solidFill>
              <a:srgbClr val="FF6B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8688" y="4096512"/>
            <a:ext cx="118872" cy="118872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36976" y="412394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Rework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236976" y="4443984"/>
            <a:ext cx="18836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只修 finding，复用原 verifier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272784" y="2852928"/>
            <a:ext cx="5230368" cy="2258568"/>
          </a:xfrm>
          <a:prstGeom prst="roundRect">
            <a:avLst>
              <a:gd name="adj" fmla="val 3239"/>
            </a:avLst>
          </a:prstGeom>
          <a:solidFill>
            <a:srgbClr val="1420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3099816"/>
            <a:ext cx="4553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净收益是否高于协调成本？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565392" y="3502152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独立复核 / 真并行 / 专门能力 / 上下文隔离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565392" y="3913632"/>
            <a:ext cx="2066544" cy="868680"/>
          </a:xfrm>
          <a:prstGeom prst="roundRect">
            <a:avLst>
              <a:gd name="adj" fmla="val 8421"/>
            </a:avLst>
          </a:prstGeom>
          <a:solidFill>
            <a:srgbClr val="142038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48272" y="4096512"/>
            <a:ext cx="118872" cy="1188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12394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是｜委派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6766560" y="4443984"/>
            <a:ext cx="16642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单一职责，可直接消费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887968" y="3913632"/>
            <a:ext cx="2066544" cy="868680"/>
          </a:xfrm>
          <a:prstGeom prst="roundRect">
            <a:avLst>
              <a:gd name="adj" fmla="val 8421"/>
            </a:avLst>
          </a:prstGeom>
          <a:solidFill>
            <a:srgbClr val="142038"/>
          </a:solidFill>
          <a:ln w="10160">
            <a:solidFill>
              <a:srgbClr val="FFB8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70848" y="4096512"/>
            <a:ext cx="118872" cy="11887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89136" y="412394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否｜不拆</a:t>
            </a:r>
            <a:endParaRPr lang="en-US" sz="1330" dirty="0"/>
          </a:p>
        </p:txBody>
      </p:sp>
      <p:sp>
        <p:nvSpPr>
          <p:cNvPr id="41" name="Text 39"/>
          <p:cNvSpPr/>
          <p:nvPr/>
        </p:nvSpPr>
        <p:spPr>
          <a:xfrm>
            <a:off x="9089136" y="4443984"/>
            <a:ext cx="16642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 Agent 直接完成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5800" y="5504688"/>
            <a:ext cx="10817352" cy="658368"/>
          </a:xfrm>
          <a:prstGeom prst="roundRect">
            <a:avLst>
              <a:gd name="adj" fmla="val 11111"/>
            </a:avLst>
          </a:prstGeom>
          <a:solidFill>
            <a:srgbClr val="0E1729"/>
          </a:solidFill>
          <a:ln w="10160">
            <a:solidFill>
              <a:srgbClr val="3143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56692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收益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536192" y="566013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独立性  +  并行性  +  专业性  +  隔离价值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5632704" y="5623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245352" y="56692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6B5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成本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848856" y="56601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创建  +  交接  +  等待  +  整合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10113264" y="566928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86416" y="566928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可拆 ≠ 应拆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8368" y="651052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 GOVERNANCE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025956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41501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7046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725912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881360" y="6528816"/>
            <a:ext cx="54864" cy="5486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03680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9225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4770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/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6751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治理三｜Goal、handoff、压缩：三个机制，三种职责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01400" y="3383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33856" y="1481328"/>
            <a:ext cx="3044952" cy="3493008"/>
          </a:xfrm>
          <a:prstGeom prst="roundRect">
            <a:avLst>
              <a:gd name="adj" fmla="val 2402"/>
            </a:avLst>
          </a:prstGeom>
          <a:solidFill>
            <a:srgbClr val="142038"/>
          </a:solidFill>
          <a:ln w="13970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55648"/>
            <a:ext cx="658368" cy="6583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755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85416" y="171907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Goal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85416" y="2157984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215798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保持方向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08176" y="2788920"/>
            <a:ext cx="256032" cy="25603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08176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2880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目标是什么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1408176" y="3383280"/>
            <a:ext cx="256032" cy="25603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08176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28800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成功条件是什么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1408176" y="3977640"/>
            <a:ext cx="256032" cy="25603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8176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2880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在哪里停止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4242816" y="3337560"/>
            <a:ext cx="768096" cy="0"/>
          </a:xfrm>
          <a:prstGeom prst="line">
            <a:avLst/>
          </a:prstGeom>
          <a:noFill/>
          <a:ln w="17780">
            <a:solidFill>
              <a:srgbClr val="31435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1481328"/>
            <a:ext cx="3044952" cy="3493008"/>
          </a:xfrm>
          <a:prstGeom prst="roundRect">
            <a:avLst>
              <a:gd name="adj" fmla="val 2402"/>
            </a:avLst>
          </a:prstGeom>
          <a:solidFill>
            <a:srgbClr val="142038"/>
          </a:solidFill>
          <a:ln w="13970">
            <a:solidFill>
              <a:srgbClr val="FFB8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1755648"/>
            <a:ext cx="658368" cy="65836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1755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23560" y="171907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handoff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623560" y="2157984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96712" y="215798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冻结状态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788920"/>
            <a:ext cx="256032" cy="25603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66944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当前阶段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4846320" y="3383280"/>
            <a:ext cx="256032" cy="25603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66944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仍有效的结果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4846320" y="3977640"/>
            <a:ext cx="256032" cy="25603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66944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blocker 与下一步</a:t>
            </a:r>
            <a:endParaRPr lang="en-US" sz="1420" dirty="0"/>
          </a:p>
        </p:txBody>
      </p:sp>
      <p:sp>
        <p:nvSpPr>
          <p:cNvPr id="36" name="Shape 34"/>
          <p:cNvSpPr/>
          <p:nvPr/>
        </p:nvSpPr>
        <p:spPr>
          <a:xfrm>
            <a:off x="7680960" y="3337560"/>
            <a:ext cx="768096" cy="0"/>
          </a:xfrm>
          <a:prstGeom prst="line">
            <a:avLst/>
          </a:prstGeom>
          <a:noFill/>
          <a:ln w="17780">
            <a:solidFill>
              <a:srgbClr val="31435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010144" y="1481328"/>
            <a:ext cx="3044952" cy="3493008"/>
          </a:xfrm>
          <a:prstGeom prst="roundRect">
            <a:avLst>
              <a:gd name="adj" fmla="val 2402"/>
            </a:avLst>
          </a:prstGeom>
          <a:solidFill>
            <a:srgbClr val="142038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7888" y="1755648"/>
            <a:ext cx="658368" cy="6583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47888" y="1755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061704" y="171907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压缩 / 干净任务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9061704" y="2157984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34856" y="215798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实际减负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84464" y="2788920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84464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705088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减少历史负担</a:t>
            </a:r>
            <a:endParaRPr lang="en-US" sz="1420" dirty="0"/>
          </a:p>
        </p:txBody>
      </p:sp>
      <p:sp>
        <p:nvSpPr>
          <p:cNvPr id="46" name="Shape 44"/>
          <p:cNvSpPr/>
          <p:nvPr/>
        </p:nvSpPr>
        <p:spPr>
          <a:xfrm>
            <a:off x="8284464" y="3383280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84464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705088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摆脱旧计划惯性</a:t>
            </a:r>
            <a:endParaRPr lang="en-US" sz="1420" dirty="0"/>
          </a:p>
        </p:txBody>
      </p:sp>
      <p:sp>
        <p:nvSpPr>
          <p:cNvPr id="49" name="Shape 47"/>
          <p:cNvSpPr/>
          <p:nvPr/>
        </p:nvSpPr>
        <p:spPr>
          <a:xfrm>
            <a:off x="8284464" y="3977640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84464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705088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携带 handoff 继续</a:t>
            </a:r>
            <a:endParaRPr lang="en-US" sz="1420" dirty="0"/>
          </a:p>
        </p:txBody>
      </p:sp>
      <p:sp>
        <p:nvSpPr>
          <p:cNvPr id="52" name="Shape 50"/>
          <p:cNvSpPr/>
          <p:nvPr/>
        </p:nvSpPr>
        <p:spPr>
          <a:xfrm>
            <a:off x="1078992" y="5285232"/>
            <a:ext cx="10012680" cy="576072"/>
          </a:xfrm>
          <a:prstGeom prst="roundRect">
            <a:avLst>
              <a:gd name="adj" fmla="val 12698"/>
            </a:avLst>
          </a:prstGeom>
          <a:solidFill>
            <a:srgbClr val="192943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53312" y="544068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S/M → L/XL · 连续返工 · 目标漂移</a:t>
            </a:r>
            <a:endParaRPr lang="en-US" sz="1160" dirty="0"/>
          </a:p>
        </p:txBody>
      </p:sp>
      <p:sp>
        <p:nvSpPr>
          <p:cNvPr id="54" name="Text 52"/>
          <p:cNvSpPr/>
          <p:nvPr/>
        </p:nvSpPr>
        <p:spPr>
          <a:xfrm>
            <a:off x="4956048" y="5404104"/>
            <a:ext cx="5577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先校正目标，再决定是否 handoff；不设机械阈值。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658368" y="651052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 GOVERNANCE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025956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1501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7046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725912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881360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36808" y="6528816"/>
            <a:ext cx="54864" cy="5486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19225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34770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 / ADOPTION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6751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落地｜治理双层生效，但只向前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11338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不改写历史，不虚构未来进度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01400" y="3383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938528" cy="4434840"/>
          </a:xfrm>
          <a:prstGeom prst="roundRect">
            <a:avLst>
              <a:gd name="adj" fmla="val 3774"/>
            </a:avLst>
          </a:prstGeom>
          <a:solidFill>
            <a:srgbClr val="0E1729"/>
          </a:solidFill>
          <a:ln w="11430">
            <a:solidFill>
              <a:srgbClr val="3143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55648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75564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冻结区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48716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归档 Change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07238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历史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既有 verdict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34440" y="4361688"/>
            <a:ext cx="658368" cy="658368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361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0120" y="51755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6758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不追溯改写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2980944" y="1536192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4096" y="15361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通用治理层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27248" y="2304288"/>
            <a:ext cx="7863840" cy="0"/>
          </a:xfrm>
          <a:prstGeom prst="line">
            <a:avLst/>
          </a:prstGeom>
          <a:noFill/>
          <a:ln w="2032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154680" y="1938528"/>
            <a:ext cx="1755648" cy="932688"/>
          </a:xfrm>
          <a:prstGeom prst="roundRect">
            <a:avLst>
              <a:gd name="adj" fmla="val 7843"/>
            </a:avLst>
          </a:prstGeom>
          <a:solidFill>
            <a:srgbClr val="142038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2121408"/>
            <a:ext cx="118872" cy="1188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1488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55848" y="2441448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常驻硬约束与路由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559552" y="1938528"/>
            <a:ext cx="1755648" cy="932688"/>
          </a:xfrm>
          <a:prstGeom prst="roundRect">
            <a:avLst>
              <a:gd name="adj" fmla="val 7843"/>
            </a:avLst>
          </a:prstGeom>
          <a:solidFill>
            <a:srgbClr val="142038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42432" y="2121408"/>
            <a:ext cx="118872" cy="1188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21488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OpenSpec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2441448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正式治理契约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964424" y="1938528"/>
            <a:ext cx="1755648" cy="932688"/>
          </a:xfrm>
          <a:prstGeom prst="roundRect">
            <a:avLst>
              <a:gd name="adj" fmla="val 7843"/>
            </a:avLst>
          </a:prstGeom>
          <a:solidFill>
            <a:srgbClr val="142038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47304" y="2121408"/>
            <a:ext cx="118872" cy="1188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21488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Skills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65592" y="2441448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按需执行工作流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0204704" y="1938528"/>
            <a:ext cx="1261872" cy="932688"/>
          </a:xfrm>
          <a:prstGeom prst="roundRect">
            <a:avLst>
              <a:gd name="adj" fmla="val 7843"/>
            </a:avLst>
          </a:prstGeom>
          <a:solidFill>
            <a:srgbClr val="142038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87584" y="2121408"/>
            <a:ext cx="118872" cy="1188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05872" y="214884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后续任务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10405872" y="2441448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默认继承治理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2980944" y="345643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54096" y="34564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DH Program 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27248" y="4233672"/>
            <a:ext cx="7863840" cy="0"/>
          </a:xfrm>
          <a:prstGeom prst="line">
            <a:avLst/>
          </a:prstGeom>
          <a:noFill/>
          <a:ln w="2032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154680" y="3858768"/>
            <a:ext cx="2139696" cy="987552"/>
          </a:xfrm>
          <a:prstGeom prst="roundRect">
            <a:avLst>
              <a:gd name="adj" fmla="val 7407"/>
            </a:avLst>
          </a:prstGeom>
          <a:solidFill>
            <a:srgbClr val="142038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7560" y="4041648"/>
            <a:ext cx="118872" cy="1188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全局生成器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355848" y="439826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共享能力，不再逐 WS 复制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5696712" y="3858768"/>
            <a:ext cx="2231136" cy="987552"/>
          </a:xfrm>
          <a:prstGeom prst="roundRect">
            <a:avLst>
              <a:gd name="adj" fmla="val 7407"/>
            </a:avLst>
          </a:prstGeom>
          <a:solidFill>
            <a:srgbClr val="142038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79592" y="4041648"/>
            <a:ext cx="118872" cy="118872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WS-04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897880" y="4370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startup / lobby bundles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代表性验证单元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8339328" y="385876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142038"/>
          </a:solidFill>
          <a:ln w="11430">
            <a:solidFill>
              <a:srgbClr val="60A5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22208" y="4041648"/>
            <a:ext cx="118872" cy="1188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0496" y="406908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未来 WS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540496" y="437083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复用模板与共享能力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10351008" y="3858768"/>
            <a:ext cx="1143000" cy="987552"/>
          </a:xfrm>
          <a:prstGeom prst="roundRect">
            <a:avLst>
              <a:gd name="adj" fmla="val 7407"/>
            </a:avLst>
          </a:prstGeom>
          <a:solidFill>
            <a:srgbClr val="0E1729"/>
          </a:solidFill>
          <a:ln w="11430">
            <a:solidFill>
              <a:srgbClr val="3143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79024" y="409651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WS-05 / 06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479024" y="4407408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58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未启动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62656" y="5285232"/>
            <a:ext cx="8540496" cy="640080"/>
          </a:xfrm>
          <a:prstGeom prst="roundRect">
            <a:avLst>
              <a:gd name="adj" fmla="val 11429"/>
            </a:avLst>
          </a:prstGeom>
          <a:solidFill>
            <a:srgbClr val="192943"/>
          </a:solidFill>
          <a:ln w="8890">
            <a:solidFill>
              <a:srgbClr val="3143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18688" y="54681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保留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3730752" y="54498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资源身份 · contract lock · 独立验证 · 发布门禁</a:t>
            </a:r>
            <a:endParaRPr lang="en-US" sz="1130" dirty="0"/>
          </a:p>
        </p:txBody>
      </p:sp>
      <p:sp>
        <p:nvSpPr>
          <p:cNvPr id="55" name="Text 53"/>
          <p:cNvSpPr/>
          <p:nvPr/>
        </p:nvSpPr>
        <p:spPr>
          <a:xfrm>
            <a:off x="7406640" y="54681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6B5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治理不新增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339328" y="544982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EAF0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状态 · checker · schema · gate</a:t>
            </a:r>
            <a:endParaRPr lang="en-US" sz="1130" dirty="0"/>
          </a:p>
        </p:txBody>
      </p:sp>
      <p:sp>
        <p:nvSpPr>
          <p:cNvPr id="57" name="Text 55"/>
          <p:cNvSpPr/>
          <p:nvPr/>
        </p:nvSpPr>
        <p:spPr>
          <a:xfrm>
            <a:off x="658368" y="651052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 GOVERNANCE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25956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1501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57046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725912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881360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3680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192256" y="6528816"/>
            <a:ext cx="54864" cy="5486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34770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25880" y="2834640"/>
            <a:ext cx="4572000" cy="4572000"/>
          </a:xfrm>
          <a:prstGeom prst="ellipse">
            <a:avLst/>
          </a:prstGeom>
          <a:solidFill>
            <a:srgbClr val="2DD4BF">
              <a:alpha val="9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6217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621792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0A10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TAKEAWAY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986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治理有效，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最终看的是行为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规则是手段，交付行为才是验收。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892040" y="1024128"/>
            <a:ext cx="3127248" cy="987552"/>
          </a:xfrm>
          <a:prstGeom prst="roundRect">
            <a:avLst>
              <a:gd name="adj" fmla="val 7407"/>
            </a:avLst>
          </a:prstGeom>
          <a:solidFill>
            <a:srgbClr val="142038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93208" y="1261872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320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715000" y="1216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稳定改动面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715000" y="15544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同一证据不重复证明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348472" y="1353312"/>
            <a:ext cx="3127248" cy="987552"/>
          </a:xfrm>
          <a:prstGeom prst="roundRect">
            <a:avLst>
              <a:gd name="adj" fmla="val 7407"/>
            </a:avLst>
          </a:prstGeom>
          <a:solidFill>
            <a:srgbClr val="142038"/>
          </a:solidFill>
          <a:ln w="10160">
            <a:solidFill>
              <a:srgbClr val="FFB8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1591056"/>
            <a:ext cx="457200" cy="45720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171432" y="1545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有界 verifier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71432" y="18836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Rework 复用同一审查者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892040" y="2377440"/>
            <a:ext cx="3127248" cy="987552"/>
          </a:xfrm>
          <a:prstGeom prst="roundRect">
            <a:avLst>
              <a:gd name="adj" fmla="val 7407"/>
            </a:avLst>
          </a:prstGeom>
          <a:solidFill>
            <a:srgbClr val="142038"/>
          </a:solidFill>
          <a:ln w="10160">
            <a:solidFill>
              <a:srgbClr val="FF6B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3208" y="2615184"/>
            <a:ext cx="457200" cy="45720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715000" y="2569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范围受控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715000" y="29077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用户限定不自然膨胀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348472" y="2706624"/>
            <a:ext cx="3127248" cy="987552"/>
          </a:xfrm>
          <a:prstGeom prst="roundRect">
            <a:avLst>
              <a:gd name="adj" fmla="val 7407"/>
            </a:avLst>
          </a:prstGeom>
          <a:solidFill>
            <a:srgbClr val="142038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9640" y="294436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9171432" y="2898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提交确定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171432" y="3236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Git 不重新启动收口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4892040" y="3730752"/>
            <a:ext cx="3182112" cy="987552"/>
          </a:xfrm>
          <a:prstGeom prst="roundRect">
            <a:avLst>
              <a:gd name="adj" fmla="val 7407"/>
            </a:avLst>
          </a:prstGeom>
          <a:solidFill>
            <a:srgbClr val="142038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93208" y="3968496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A102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715000" y="392277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正确减负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715000" y="426110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必要时 handoff + 干净任务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713232" y="5413248"/>
            <a:ext cx="10808208" cy="804672"/>
          </a:xfrm>
          <a:prstGeom prst="roundRect">
            <a:avLst>
              <a:gd name="adj" fmla="val 9091"/>
            </a:avLst>
          </a:prstGeom>
          <a:solidFill>
            <a:srgbClr val="192943"/>
          </a:solidFill>
          <a:ln w="8890">
            <a:solidFill>
              <a:srgbClr val="3143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60527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用最少但充分的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788920" y="55595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阶段、证据与协作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614416" y="555955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A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完成正确交付。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900416" y="5623560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30" dirty="0">
                <a:solidFill>
                  <a:srgbClr val="9AA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下一次普通任务，就是治理的验收场。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658368" y="651052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110" kern="0" dirty="0">
                <a:solidFill>
                  <a:srgbClr val="6675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WORLD TOUR CASINO · AGENT GOVERNANCE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25956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1501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70464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25912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036808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92256" y="6528816"/>
            <a:ext cx="54864" cy="54864"/>
          </a:xfrm>
          <a:prstGeom prst="ellipse">
            <a:avLst/>
          </a:prstGeom>
          <a:solidFill>
            <a:srgbClr val="31435E"/>
          </a:solidFill>
          <a:ln w="12700">
            <a:solidFill>
              <a:srgbClr val="3143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347704" y="6528816"/>
            <a:ext cx="54864" cy="5486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WorldTourCasino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一个明确的小任务，为什么变成了长链路？</dc:title>
  <dc:subject>Agent 综合治理复盘</dc:subject>
  <dc:creator>WorldTourCasino Team</dc:creator>
  <cp:lastModifiedBy>WorldTourCasino Team</cp:lastModifiedBy>
  <cp:revision>1</cp:revision>
  <dcterms:created xsi:type="dcterms:W3CDTF">2026-09-03T08:03:48Z</dcterms:created>
  <dcterms:modified xsi:type="dcterms:W3CDTF">2026-09-03T08:03:48Z</dcterms:modified>
</cp:coreProperties>
</file>