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143C78"/>
                </a:solidFill>
              </a:rPr>
              <a:t>WTC-Docs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50648C"/>
                </a:solidFill>
              </a:rPr>
              <a:t>WorldTourCasino 项目专属文档系统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87828"/>
                </a:solidFill>
              </a:rPr>
              <a:t>人员友好 · AI 友好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646E82"/>
                </a:solidFill>
              </a:rPr>
              <a:t>让项目知识积累、传承更容易</a:t>
            </a:r>
          </a:p>
          <a:p>
            <a:pPr algn="ctr"/>
            <a:r>
              <a:rPr sz="1800">
                <a:solidFill>
                  <a:srgbClr val="646E82"/>
                </a:solidFill>
              </a:rPr>
              <a:t>让 AI 上下文补充更高效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43264"/>
                </a:solidFill>
              </a:rPr>
              <a:t>双重定位：人员友好 + AI 友好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457200" y="1005840"/>
            <a:ext cx="5303520" cy="3657600"/>
          </a:xfrm>
          <a:prstGeom prst="parallelogram">
            <a:avLst/>
          </a:prstGeom>
          <a:solidFill>
            <a:srgbClr val="E6F5FF"/>
          </a:solidFill>
          <a:ln w="25400">
            <a:solidFill>
              <a:srgbClr val="46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400800" y="1005840"/>
            <a:ext cx="5303520" cy="3657600"/>
          </a:xfrm>
          <a:prstGeom prst="parallelogram">
            <a:avLst/>
          </a:prstGeom>
          <a:solidFill>
            <a:srgbClr val="F5F0FF"/>
          </a:solidFill>
          <a:ln w="25400">
            <a:solidFill>
              <a:srgbClr val="82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864AA"/>
                </a:solidFill>
              </a:rPr>
              <a:t>👥 人员友好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323C50"/>
                </a:solidFill>
              </a:rPr>
              <a:t>• 智能中文搜索</a:t>
            </a:r>
          </a:p>
          <a:p>
            <a:pPr algn="l"/>
            <a:r>
              <a:rPr sz="1400">
                <a:solidFill>
                  <a:srgbClr val="323C50"/>
                </a:solidFill>
              </a:rPr>
              <a:t>  快速定位文档</a:t>
            </a:r>
          </a:p>
          <a:p>
            <a:pPr algn="l"/>
          </a:p>
          <a:p>
            <a:pPr algn="l"/>
            <a:r>
              <a:rPr sz="1400">
                <a:solidFill>
                  <a:srgbClr val="323C50"/>
                </a:solidFill>
              </a:rPr>
              <a:t>• 自动侧边栏</a:t>
            </a:r>
          </a:p>
          <a:p>
            <a:pPr algn="l"/>
            <a:r>
              <a:rPr sz="1400">
                <a:solidFill>
                  <a:srgbClr val="323C50"/>
                </a:solidFill>
              </a:rPr>
              <a:t>  目录结构一目了然</a:t>
            </a:r>
          </a:p>
          <a:p>
            <a:pPr algn="l"/>
          </a:p>
          <a:p>
            <a:pPr algn="l"/>
            <a:r>
              <a:rPr sz="1400">
                <a:solidFill>
                  <a:srgbClr val="323C50"/>
                </a:solidFill>
              </a:rPr>
              <a:t>• 飞书一键转换</a:t>
            </a:r>
          </a:p>
          <a:p>
            <a:pPr algn="l"/>
            <a:r>
              <a:rPr sz="1400">
                <a:solidFill>
                  <a:srgbClr val="323C50"/>
                </a:solidFill>
              </a:rPr>
              <a:t>  无需手动整理格式</a:t>
            </a:r>
          </a:p>
          <a:p>
            <a:pPr algn="l"/>
          </a:p>
          <a:p>
            <a:pPr algn="l"/>
            <a:r>
              <a:rPr sz="1400">
                <a:solidFill>
                  <a:srgbClr val="323C50"/>
                </a:solidFill>
              </a:rPr>
              <a:t>• 位置无关设计</a:t>
            </a:r>
          </a:p>
          <a:p>
            <a:pPr algn="l"/>
            <a:r>
              <a:rPr sz="1400">
                <a:solidFill>
                  <a:srgbClr val="323C50"/>
                </a:solidFill>
              </a:rPr>
              <a:t>  文档可自由移动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46AA"/>
                </a:solidFill>
              </a:rPr>
              <a:t>🤖 AI 友好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323C50"/>
                </a:solidFill>
              </a:rPr>
              <a:t>• AI 上下文知识库</a:t>
            </a:r>
          </a:p>
          <a:p>
            <a:pPr algn="l"/>
            <a:r>
              <a:rPr sz="1400">
                <a:solidFill>
                  <a:srgbClr val="323C50"/>
                </a:solidFill>
              </a:rPr>
              <a:t>  补充 CLAUDE.md</a:t>
            </a:r>
          </a:p>
          <a:p>
            <a:pPr algn="l"/>
          </a:p>
          <a:p>
            <a:pPr algn="l"/>
            <a:r>
              <a:rPr sz="1400">
                <a:solidFill>
                  <a:srgbClr val="323C50"/>
                </a:solidFill>
              </a:rPr>
              <a:t>• 结构化 Markdown</a:t>
            </a:r>
          </a:p>
          <a:p>
            <a:pPr algn="l"/>
            <a:r>
              <a:rPr sz="1400">
                <a:solidFill>
                  <a:srgbClr val="323C50"/>
                </a:solidFill>
              </a:rPr>
              <a:t>  便于 AI 解析理解</a:t>
            </a:r>
          </a:p>
          <a:p>
            <a:pPr algn="l"/>
          </a:p>
          <a:p>
            <a:pPr algn="l"/>
            <a:r>
              <a:rPr sz="1400">
                <a:solidFill>
                  <a:srgbClr val="323C50"/>
                </a:solidFill>
              </a:rPr>
              <a:t>• 项目专属规则</a:t>
            </a:r>
          </a:p>
          <a:p>
            <a:pPr algn="l"/>
            <a:r>
              <a:rPr sz="1400">
                <a:solidFill>
                  <a:srgbClr val="323C50"/>
                </a:solidFill>
              </a:rPr>
              <a:t>  可迭代积累规范</a:t>
            </a:r>
          </a:p>
          <a:p>
            <a:pPr algn="l"/>
          </a:p>
          <a:p>
            <a:pPr algn="l"/>
            <a:r>
              <a:rPr sz="1400">
                <a:solidFill>
                  <a:srgbClr val="323C50"/>
                </a:solidFill>
              </a:rPr>
              <a:t>• 文档即代码</a:t>
            </a:r>
          </a:p>
          <a:p>
            <a:pPr algn="l"/>
            <a:r>
              <a:rPr sz="1400">
                <a:solidFill>
                  <a:srgbClr val="323C50"/>
                </a:solidFill>
              </a:rPr>
              <a:t>  Git 版本控制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43264"/>
                </a:solidFill>
              </a:rPr>
              <a:t>项目知识积累与传承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43C3C"/>
                </a:solidFill>
              </a:rPr>
              <a:t>❌ 传统方式的痛点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05050"/>
                </a:solidFill>
              </a:rPr>
              <a:t>• 文档分散在飞书、本地、聊天记录</a:t>
            </a:r>
          </a:p>
          <a:p>
            <a:pPr algn="l"/>
          </a:p>
          <a:p>
            <a:pPr algn="l"/>
            <a:r>
              <a:rPr sz="1400">
                <a:solidFill>
                  <a:srgbClr val="505050"/>
                </a:solidFill>
              </a:rPr>
              <a:t>• 关键经验只存在于个人记忆中</a:t>
            </a:r>
          </a:p>
          <a:p>
            <a:pPr algn="l"/>
          </a:p>
          <a:p>
            <a:pPr algn="l"/>
            <a:r>
              <a:rPr sz="1400">
                <a:solidFill>
                  <a:srgbClr val="505050"/>
                </a:solidFill>
              </a:rPr>
              <a:t>• 新成员上手困难，反复踩坑</a:t>
            </a:r>
          </a:p>
          <a:p>
            <a:pPr algn="l"/>
          </a:p>
          <a:p>
            <a:pPr algn="l"/>
            <a:r>
              <a:rPr sz="1400">
                <a:solidFill>
                  <a:srgbClr val="505050"/>
                </a:solidFill>
              </a:rPr>
              <a:t>• 问题解决方案无法复用</a:t>
            </a:r>
          </a:p>
          <a:p>
            <a:pPr algn="l"/>
          </a:p>
          <a:p>
            <a:pPr algn="l"/>
            <a:r>
              <a:rPr sz="1400">
                <a:solidFill>
                  <a:srgbClr val="505050"/>
                </a:solidFill>
              </a:rPr>
              <a:t>• 缺乏统一的搜索入口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88C50"/>
                </a:solidFill>
              </a:rPr>
              <a:t>✅ WTC-Docs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323C50"/>
                </a:solidFill>
              </a:rPr>
              <a:t>• 统一文档中心，集中管理</a:t>
            </a:r>
          </a:p>
          <a:p>
            <a:pPr algn="l"/>
          </a:p>
          <a:p>
            <a:pPr algn="l"/>
            <a:r>
              <a:rPr sz="1400">
                <a:solidFill>
                  <a:srgbClr val="323C50"/>
                </a:solidFill>
              </a:rPr>
              <a:t>• 经验沉淀为结构化文档</a:t>
            </a:r>
          </a:p>
          <a:p>
            <a:pPr algn="l"/>
          </a:p>
          <a:p>
            <a:pPr algn="l"/>
            <a:r>
              <a:rPr sz="1400">
                <a:solidFill>
                  <a:srgbClr val="323C50"/>
                </a:solidFill>
              </a:rPr>
              <a:t>• 智能搜索快速定位</a:t>
            </a:r>
          </a:p>
          <a:p>
            <a:pPr algn="l"/>
          </a:p>
          <a:p>
            <a:pPr algn="l"/>
            <a:r>
              <a:rPr sz="1400">
                <a:solidFill>
                  <a:srgbClr val="323C50"/>
                </a:solidFill>
              </a:rPr>
              <a:t>• 故障排查案例库复用</a:t>
            </a:r>
          </a:p>
          <a:p>
            <a:pPr algn="l"/>
          </a:p>
          <a:p>
            <a:pPr algn="l"/>
            <a:r>
              <a:rPr sz="1400">
                <a:solidFill>
                  <a:srgbClr val="323C50"/>
                </a:solidFill>
              </a:rPr>
              <a:t>• Git 版本追踪历史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06482"/>
                </a:solidFill>
              </a:rPr>
              <a:t>📂 文档分类：活动 | 关卡 | Native | 工程-工具 | 服务器 | 故障排查 | 成员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03296"/>
                </a:solidFill>
              </a:rPr>
              <a:t>AI 上下文知识库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64508C"/>
                </a:solidFill>
              </a:rPr>
              <a:t>补充 CLAUDE.md，构建项目专属 AI 知识体系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457200" y="1371600"/>
            <a:ext cx="3474720" cy="1828800"/>
          </a:xfrm>
          <a:prstGeom prst="parallelogram">
            <a:avLst/>
          </a:prstGeom>
          <a:solidFill>
            <a:srgbClr val="FFF5E6"/>
          </a:solidFill>
          <a:ln w="25400">
            <a:solidFill>
              <a:srgbClr val="C8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361688" y="1371600"/>
            <a:ext cx="3474720" cy="1828800"/>
          </a:xfrm>
          <a:prstGeom prst="parallelogram">
            <a:avLst/>
          </a:prstGeom>
          <a:solidFill>
            <a:srgbClr val="E6FAF0"/>
          </a:solidFill>
          <a:ln w="25400">
            <a:solidFill>
              <a:srgbClr val="50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8257031" y="1371600"/>
            <a:ext cx="3474720" cy="1828800"/>
          </a:xfrm>
          <a:prstGeom prst="parallelogram">
            <a:avLst/>
          </a:prstGeom>
          <a:solidFill>
            <a:srgbClr val="F0F0FF"/>
          </a:solidFill>
          <a:ln w="25400">
            <a:solidFill>
              <a:srgbClr val="64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06428"/>
                </a:solidFill>
              </a:rPr>
              <a:t>📜 CLAUDE.md</a:t>
            </a:r>
          </a:p>
          <a:p>
            <a:pPr algn="ctr"/>
            <a:r>
              <a:rPr sz="1400" b="1">
                <a:solidFill>
                  <a:srgbClr val="A06428"/>
                </a:solidFill>
              </a:rPr>
              <a:t>核心上下文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503C28"/>
                </a:solidFill>
              </a:rPr>
              <a:t>• 项目架构概述</a:t>
            </a:r>
          </a:p>
          <a:p>
            <a:pPr algn="l"/>
            <a:r>
              <a:rPr sz="1100">
                <a:solidFill>
                  <a:srgbClr val="503C28"/>
                </a:solidFill>
              </a:rPr>
              <a:t>• 代码规范规则</a:t>
            </a:r>
          </a:p>
          <a:p>
            <a:pPr algn="l"/>
            <a:r>
              <a:rPr sz="1100">
                <a:solidFill>
                  <a:srgbClr val="503C28"/>
                </a:solidFill>
              </a:rPr>
              <a:t>• Git 提交流程</a:t>
            </a:r>
          </a:p>
          <a:p>
            <a:pPr algn="l"/>
            <a:r>
              <a:rPr sz="1100">
                <a:solidFill>
                  <a:srgbClr val="503C28"/>
                </a:solidFill>
              </a:rPr>
              <a:t>• 禁止与强制行为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87850"/>
                </a:solidFill>
              </a:rPr>
              <a:t>📚 docs/ 文档库</a:t>
            </a:r>
          </a:p>
          <a:p>
            <a:pPr algn="ctr"/>
            <a:r>
              <a:rPr sz="1400" b="1">
                <a:solidFill>
                  <a:srgbClr val="287850"/>
                </a:solidFill>
              </a:rPr>
              <a:t>扩展知识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1031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8503C"/>
                </a:solidFill>
              </a:rPr>
              <a:t>• 详细技术规范</a:t>
            </a:r>
          </a:p>
          <a:p>
            <a:pPr algn="l"/>
            <a:r>
              <a:rPr sz="1100">
                <a:solidFill>
                  <a:srgbClr val="28503C"/>
                </a:solidFill>
              </a:rPr>
              <a:t>• 故障排查案例</a:t>
            </a:r>
          </a:p>
          <a:p>
            <a:pPr algn="l"/>
            <a:r>
              <a:rPr sz="1100">
                <a:solidFill>
                  <a:srgbClr val="28503C"/>
                </a:solidFill>
              </a:rPr>
              <a:t>• 活动/关卡配置</a:t>
            </a:r>
          </a:p>
          <a:p>
            <a:pPr algn="l"/>
            <a:r>
              <a:rPr sz="1100">
                <a:solidFill>
                  <a:srgbClr val="28503C"/>
                </a:solidFill>
              </a:rPr>
              <a:t>• 工具使用指南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646A0"/>
                </a:solidFill>
              </a:rPr>
              <a:t>🔄 持续迭代</a:t>
            </a:r>
          </a:p>
          <a:p>
            <a:pPr algn="ctr"/>
            <a:r>
              <a:rPr sz="1400" b="1">
                <a:solidFill>
                  <a:srgbClr val="4646A0"/>
                </a:solidFill>
              </a:rPr>
              <a:t>知识积累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21031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23278"/>
                </a:solidFill>
              </a:rPr>
              <a:t>• 每次问题解决沉淀</a:t>
            </a:r>
          </a:p>
          <a:p>
            <a:pPr algn="l"/>
            <a:r>
              <a:rPr sz="1100">
                <a:solidFill>
                  <a:srgbClr val="323278"/>
                </a:solidFill>
              </a:rPr>
              <a:t>• AI 规则持续优化</a:t>
            </a:r>
          </a:p>
          <a:p>
            <a:pPr algn="l"/>
            <a:r>
              <a:rPr sz="1100">
                <a:solidFill>
                  <a:srgbClr val="323278"/>
                </a:solidFill>
              </a:rPr>
              <a:t>• 项目知识不断丰富</a:t>
            </a:r>
          </a:p>
          <a:p>
            <a:pPr algn="l"/>
            <a:r>
              <a:rPr sz="1100">
                <a:solidFill>
                  <a:srgbClr val="323278"/>
                </a:solidFill>
              </a:rPr>
              <a:t>• 上下文越用越精准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43C96"/>
                </a:solidFill>
              </a:rPr>
              <a:t>💡 核心价值：AI 辅助开发时，自动获取项目专属知识，无需重复解释项目背景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46478"/>
                </a:solidFill>
              </a:rPr>
              <a:t>ai-rules/ 目录示例：Shell 脚本规范、VitePress 规范、飞书集成规范、规则维护指南...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43264"/>
                </a:solidFill>
              </a:rPr>
              <a:t>独创设计：位置无关链接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50648C"/>
                </a:solidFill>
              </a:rPr>
              <a:t>文档可自由移动，链接永不失效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457200" y="1371600"/>
            <a:ext cx="5303520" cy="1463040"/>
          </a:xfrm>
          <a:prstGeom prst="parallelogram">
            <a:avLst/>
          </a:prstGeom>
          <a:solidFill>
            <a:srgbClr val="FFF0F0"/>
          </a:solidFill>
          <a:ln w="25400"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6400800" y="1371600"/>
            <a:ext cx="5303520" cy="1463040"/>
          </a:xfrm>
          <a:prstGeom prst="parallelogram">
            <a:avLst/>
          </a:prstGeom>
          <a:solidFill>
            <a:srgbClr val="F0FFF0"/>
          </a:solidFill>
          <a:ln w="25400">
            <a:solidFill>
              <a:srgbClr val="5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43C3C"/>
                </a:solidFill>
              </a:rPr>
              <a:t>❌ 传统相对路径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43C3C"/>
                </a:solidFill>
              </a:rPr>
              <a:t>../assets/image.png</a:t>
            </a:r>
          </a:p>
          <a:p>
            <a:pPr algn="ctr"/>
            <a:r>
              <a:rPr sz="1200">
                <a:solidFill>
                  <a:srgbClr val="643C3C"/>
                </a:solidFill>
              </a:rPr>
              <a:t>./docs/config.md</a:t>
            </a:r>
          </a:p>
          <a:p>
            <a:pPr algn="ctr"/>
            <a:r>
              <a:rPr sz="1200">
                <a:solidFill>
                  <a:srgbClr val="643C3C"/>
                </a:solidFill>
              </a:rPr>
              <a:t>移动文件 → 链接失效 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8C3C"/>
                </a:solidFill>
              </a:rPr>
              <a:t>✅ 根路径设计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74519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28643C"/>
                </a:solidFill>
              </a:rPr>
              <a:t>/assets/screenshot.png</a:t>
            </a:r>
          </a:p>
          <a:p>
            <a:pPr algn="ctr"/>
            <a:r>
              <a:rPr sz="1200">
                <a:solidFill>
                  <a:srgbClr val="28643C"/>
                </a:solidFill>
              </a:rPr>
              <a:t>/工程-工具/vscode/配置</a:t>
            </a:r>
          </a:p>
          <a:p>
            <a:pPr algn="ctr"/>
            <a:r>
              <a:rPr sz="1200">
                <a:solidFill>
                  <a:srgbClr val="28643C"/>
                </a:solidFill>
              </a:rPr>
              <a:t>移动文件 → 链接有效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25082"/>
                </a:solidFill>
              </a:rPr>
              <a:t>💡 核心优势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C465A"/>
                </a:solidFill>
              </a:rPr>
              <a:t>• 文档重组自由：可随时调整目录结构，无需修改任何链接</a:t>
            </a:r>
          </a:p>
          <a:p>
            <a:pPr algn="l"/>
            <a:r>
              <a:rPr sz="1300">
                <a:solidFill>
                  <a:srgbClr val="3C465A"/>
                </a:solidFill>
              </a:rPr>
              <a:t>• 图片统一管理：所有图片存储在 /assets/，MD5 哈希命名，自动去重</a:t>
            </a:r>
          </a:p>
          <a:p>
            <a:pPr algn="l"/>
            <a:r>
              <a:rPr sz="1300">
                <a:solidFill>
                  <a:srgbClr val="3C465A"/>
                </a:solidFill>
              </a:rPr>
              <a:t>• 维护成本低：无需担心移动文件导致的死链问题</a:t>
            </a:r>
          </a:p>
          <a:p>
            <a:pPr algn="l"/>
            <a:r>
              <a:rPr sz="1300">
                <a:solidFill>
                  <a:srgbClr val="3C465A"/>
                </a:solidFill>
              </a:rPr>
              <a:t>• 自动链接校验：构建时自动检测失效链接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43264"/>
                </a:solidFill>
              </a:rPr>
              <a:t>6 阶段全自动化构建流水线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0648C"/>
                </a:solidFill>
              </a:rPr>
              <a:t>npm run build 一键完成，无需人工干预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45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18011">
                <a:tc>
                  <a:txBody>
                    <a:bodyPr wrap="square"/>
                    <a:lstStyle/>
                    <a:p>
                      <a:r>
                        <a:rPr sz="1400" b="1"/>
                        <a:t>阶段</a:t>
                      </a:r>
                    </a:p>
                  </a:txBody>
                  <a:tcPr>
                    <a:solidFill>
                      <a:srgbClr val="325A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/>
                        <a:t>处理器</a:t>
                      </a:r>
                    </a:p>
                  </a:txBody>
                  <a:tcPr>
                    <a:solidFill>
                      <a:srgbClr val="325A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/>
                        <a:t>功能</a:t>
                      </a:r>
                    </a:p>
                  </a:txBody>
                  <a:tcPr>
                    <a:solidFill>
                      <a:srgbClr val="325A96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fix-filenames.js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移除非法字符、处理长文件名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image-processor.js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下载外部图片、去重、清理未引用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pdf-processor.js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收集处理 PDF 资源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link-processor.js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相对路径转绝对路径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generate-directory-index.js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自动生成目录索引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vitepress build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最终构建输出 dist/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43264"/>
                </a:solidFill>
              </a:rPr>
              <a:t>飞书文档无缝集成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0648C"/>
                </a:solidFill>
              </a:rPr>
              <a:t>lark-mcp 工具：一键转换飞书 Wiki 到 Markdown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457200" y="1371600"/>
            <a:ext cx="2560320" cy="822960"/>
          </a:xfrm>
          <a:prstGeom prst="parallelogram">
            <a:avLst/>
          </a:prstGeom>
          <a:solidFill>
            <a:srgbClr val="649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FFFFFF"/>
                </a:solidFill>
              </a:rPr>
              <a:t>飞书 Wiki 链接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3474720" y="1371600"/>
            <a:ext cx="2560320" cy="822960"/>
          </a:xfrm>
          <a:prstGeom prst="parallelogram">
            <a:avLst/>
          </a:prstGeom>
          <a:solidFill>
            <a:srgbClr val="50A0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FFFFFF"/>
                </a:solidFill>
              </a:rPr>
              <a:t>lark-mcp 解析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6492240" y="1371600"/>
            <a:ext cx="2560320" cy="822960"/>
          </a:xfrm>
          <a:prstGeom prst="parallelogram">
            <a:avLst/>
          </a:prstGeom>
          <a:solidFill>
            <a:srgbClr val="C882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FFFFFF"/>
                </a:solidFill>
              </a:rPr>
              <a:t>生成 MD 文档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9509760" y="1371600"/>
            <a:ext cx="2286000" cy="822960"/>
          </a:xfrm>
          <a:prstGeom prst="parallelogram">
            <a:avLst/>
          </a:prstGeom>
          <a:solidFill>
            <a:srgbClr val="82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FFFFFF"/>
                </a:solidFill>
              </a:rPr>
              <a:t>自动提交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647896"/>
                </a:solidFill>
              </a:rPr>
              <a:t>→       →     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25082"/>
                </a:solidFill>
              </a:rPr>
              <a:t>✨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C465A"/>
                </a:solidFill>
              </a:rPr>
              <a:t>• 自动识别文档类型</a:t>
            </a:r>
          </a:p>
          <a:p>
            <a:pPr algn="l"/>
            <a:r>
              <a:rPr sz="1300">
                <a:solidFill>
                  <a:srgbClr val="3C465A"/>
                </a:solidFill>
              </a:rPr>
              <a:t>  （故障排查/活动/关卡/其他）</a:t>
            </a:r>
          </a:p>
          <a:p>
            <a:pPr algn="l"/>
            <a:r>
              <a:rPr sz="1300">
                <a:solidFill>
                  <a:srgbClr val="3C465A"/>
                </a:solidFill>
              </a:rPr>
              <a:t>• 自动下载关键截图（1-3张）</a:t>
            </a:r>
          </a:p>
          <a:p>
            <a:pPr algn="l"/>
            <a:r>
              <a:rPr sz="1300">
                <a:solidFill>
                  <a:srgbClr val="3C465A"/>
                </a:solidFill>
              </a:rPr>
              <a:t>• 生成规范摘要表格</a:t>
            </a:r>
          </a:p>
          <a:p>
            <a:pPr algn="l"/>
            <a:r>
              <a:rPr sz="1300">
                <a:solidFill>
                  <a:srgbClr val="3C465A"/>
                </a:solidFill>
              </a:rPr>
              <a:t>• 保留原文档链接可追溯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25082"/>
                </a:solidFill>
              </a:rPr>
              <a:t>🚀 使用方式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C465A"/>
                </a:solidFill>
              </a:rPr>
              <a:t>提供飞书链接即可：</a:t>
            </a:r>
          </a:p>
          <a:p>
            <a:pPr algn="l"/>
          </a:p>
          <a:p>
            <a:pPr algn="l"/>
            <a:r>
              <a:rPr sz="1300">
                <a:solidFill>
                  <a:srgbClr val="3C465A"/>
                </a:solidFill>
              </a:rPr>
              <a:t>"从飞书转 docs"</a:t>
            </a:r>
          </a:p>
          <a:p>
            <a:pPr algn="l"/>
            <a:r>
              <a:rPr sz="1300">
                <a:solidFill>
                  <a:srgbClr val="3C465A"/>
                </a:solidFill>
              </a:rPr>
              <a:t>"把这个记录到文档里"</a:t>
            </a:r>
          </a:p>
          <a:p>
            <a:pPr algn="l"/>
            <a:r>
              <a:rPr sz="1300">
                <a:solidFill>
                  <a:srgbClr val="3C465A"/>
                </a:solidFill>
              </a:rPr>
              <a:t>+ 飞书 Wiki 链接</a:t>
            </a:r>
          </a:p>
          <a:p>
            <a:pPr algn="l"/>
          </a:p>
          <a:p>
            <a:pPr algn="l"/>
            <a:r>
              <a:rPr sz="1300">
                <a:solidFill>
                  <a:srgbClr val="3C465A"/>
                </a:solidFill>
              </a:rPr>
              <a:t>→ 自动完成全部流程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43C78"/>
                </a:solidFill>
              </a:rPr>
              <a:t>WTC-Docs 核心价值总结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457200" y="1005840"/>
            <a:ext cx="5486400" cy="1005840"/>
          </a:xfrm>
          <a:prstGeom prst="parallelogram">
            <a:avLst/>
          </a:prstGeom>
          <a:solidFill>
            <a:srgbClr val="E6F5FF"/>
          </a:solidFill>
          <a:ln w="25400">
            <a:solidFill>
              <a:srgbClr val="46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245352" y="1005840"/>
            <a:ext cx="5486400" cy="1005840"/>
          </a:xfrm>
          <a:prstGeom prst="parallelogram">
            <a:avLst/>
          </a:prstGeom>
          <a:solidFill>
            <a:srgbClr val="F0FFF0"/>
          </a:solidFill>
          <a:ln w="25400">
            <a:solidFill>
              <a:srgbClr val="50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57200" y="2194560"/>
            <a:ext cx="5486400" cy="1005840"/>
          </a:xfrm>
          <a:prstGeom prst="parallelogram">
            <a:avLst/>
          </a:prstGeom>
          <a:solidFill>
            <a:srgbClr val="FFF8EB"/>
          </a:solidFill>
          <a:ln w="25400">
            <a:solidFill>
              <a:srgbClr val="C8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6245352" y="2194560"/>
            <a:ext cx="5486400" cy="1005840"/>
          </a:xfrm>
          <a:prstGeom prst="parallelogram">
            <a:avLst/>
          </a:prstGeom>
          <a:solidFill>
            <a:srgbClr val="F5F0FF"/>
          </a:solidFill>
          <a:ln w="25400">
            <a:solidFill>
              <a:srgbClr val="82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85096"/>
                </a:solidFill>
              </a:rPr>
              <a:t>👥 人员友好</a:t>
            </a:r>
          </a:p>
          <a:p>
            <a:pPr algn="ctr"/>
            <a:r>
              <a:rPr sz="1400" b="1">
                <a:solidFill>
                  <a:srgbClr val="285096"/>
                </a:solidFill>
              </a:rPr>
              <a:t>智能搜索 + 自动侧边栏 + 飞书集成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2" y="11430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87850"/>
                </a:solidFill>
              </a:rPr>
              <a:t>🤖 AI 友好</a:t>
            </a:r>
          </a:p>
          <a:p>
            <a:pPr algn="ctr"/>
            <a:r>
              <a:rPr sz="1400" b="1">
                <a:solidFill>
                  <a:srgbClr val="287850"/>
                </a:solidFill>
              </a:rPr>
              <a:t>CLAUDE.md 补充 + 规则迭代积累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06432"/>
                </a:solidFill>
              </a:rPr>
              <a:t>📚 知识传承</a:t>
            </a:r>
          </a:p>
          <a:p>
            <a:pPr algn="ctr"/>
            <a:r>
              <a:rPr sz="1400" b="1">
                <a:solidFill>
                  <a:srgbClr val="A06432"/>
                </a:solidFill>
              </a:rPr>
              <a:t>经验沉淀 + 案例复用 + 版本追踪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331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44696"/>
                </a:solidFill>
              </a:rPr>
              <a:t>⚡ 全自动化</a:t>
            </a:r>
          </a:p>
          <a:p>
            <a:pPr algn="ctr"/>
            <a:r>
              <a:rPr sz="1400" b="1">
                <a:solidFill>
                  <a:srgbClr val="644696"/>
                </a:solidFill>
              </a:rPr>
              <a:t>6 阶段流水线 + Git 推送即部署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87828"/>
                </a:solidFill>
              </a:rPr>
              <a:t>让项目知识积累、传承更容易，让 AI 上下文补充更高效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0648C"/>
                </a:solidFill>
              </a:rPr>
              <a:t>📍 线上地址: https://zhaoheng666.github.io/WTC-Docs/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